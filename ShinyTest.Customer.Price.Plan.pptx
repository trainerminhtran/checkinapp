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68" r:id="rId2"/>
    <p:sldId id="26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4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6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5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8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5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4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2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6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4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ck_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830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498AF-EF57-49BF-80BD-ECEE31E10CCF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37DAC-3B10-4ADC-82BC-CE5A6770C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8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66"/>
          <p:cNvSpPr/>
          <p:nvPr/>
        </p:nvSpPr>
        <p:spPr bwMode="auto">
          <a:xfrm flipH="1">
            <a:off x="0" y="0"/>
            <a:ext cx="12192000" cy="3225367"/>
          </a:xfrm>
          <a:custGeom>
            <a:avLst/>
            <a:gdLst>
              <a:gd name="connsiteX0" fmla="*/ 9144000 w 9144000"/>
              <a:gd name="connsiteY0" fmla="*/ 0 h 2571750"/>
              <a:gd name="connsiteX1" fmla="*/ 0 w 9144000"/>
              <a:gd name="connsiteY1" fmla="*/ 0 h 2571750"/>
              <a:gd name="connsiteX2" fmla="*/ 0 w 9144000"/>
              <a:gd name="connsiteY2" fmla="*/ 2571750 h 2571750"/>
              <a:gd name="connsiteX3" fmla="*/ 4495806 w 9144000"/>
              <a:gd name="connsiteY3" fmla="*/ 2571750 h 2571750"/>
              <a:gd name="connsiteX4" fmla="*/ 5174148 w 9144000"/>
              <a:gd name="connsiteY4" fmla="*/ 2571750 h 2571750"/>
              <a:gd name="connsiteX5" fmla="*/ 8269422 w 9144000"/>
              <a:gd name="connsiteY5" fmla="*/ 2571750 h 2571750"/>
              <a:gd name="connsiteX6" fmla="*/ 8593938 w 9144000"/>
              <a:gd name="connsiteY6" fmla="*/ 2571750 h 2571750"/>
              <a:gd name="connsiteX7" fmla="*/ 9144000 w 9144000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2571750"/>
                </a:lnTo>
                <a:lnTo>
                  <a:pt x="4495806" y="2571750"/>
                </a:lnTo>
                <a:lnTo>
                  <a:pt x="5174148" y="2571750"/>
                </a:lnTo>
                <a:lnTo>
                  <a:pt x="8269422" y="2571750"/>
                </a:lnTo>
                <a:lnTo>
                  <a:pt x="8593938" y="2571750"/>
                </a:lnTo>
                <a:lnTo>
                  <a:pt x="9144000" y="257175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  <a:gs pos="100000">
                <a:schemeClr val="accent3"/>
              </a:gs>
            </a:gsLst>
            <a:lin ang="2700000" scaled="1"/>
            <a:tileRect/>
          </a:gradFill>
          <a:ln w="9525">
            <a:noFill/>
            <a:round/>
            <a:headEnd/>
            <a:tailEnd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ar-SY" sz="2400" dirty="0"/>
              <a:t> </a:t>
            </a:r>
            <a:endParaRPr lang="en-US" sz="2400" dirty="0"/>
          </a:p>
        </p:txBody>
      </p:sp>
      <p:sp>
        <p:nvSpPr>
          <p:cNvPr id="7" name="Freeform 6"/>
          <p:cNvSpPr/>
          <p:nvPr/>
        </p:nvSpPr>
        <p:spPr bwMode="auto">
          <a:xfrm>
            <a:off x="1899184" y="2028179"/>
            <a:ext cx="2594864" cy="4164515"/>
          </a:xfrm>
          <a:custGeom>
            <a:avLst/>
            <a:gdLst>
              <a:gd name="connsiteX0" fmla="*/ 0 w 1946148"/>
              <a:gd name="connsiteY0" fmla="*/ 0 h 1930634"/>
              <a:gd name="connsiteX1" fmla="*/ 1946148 w 1946148"/>
              <a:gd name="connsiteY1" fmla="*/ 0 h 1930634"/>
              <a:gd name="connsiteX2" fmla="*/ 1946148 w 1946148"/>
              <a:gd name="connsiteY2" fmla="*/ 1930634 h 1930634"/>
              <a:gd name="connsiteX3" fmla="*/ 0 w 1946148"/>
              <a:gd name="connsiteY3" fmla="*/ 1930634 h 193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1930634">
                <a:moveTo>
                  <a:pt x="0" y="0"/>
                </a:moveTo>
                <a:lnTo>
                  <a:pt x="1946148" y="0"/>
                </a:lnTo>
                <a:lnTo>
                  <a:pt x="1946148" y="1930634"/>
                </a:lnTo>
                <a:lnTo>
                  <a:pt x="0" y="193063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0800" dist="38100" dir="8100000" algn="tr" rotWithShape="0">
              <a:prstClr val="black">
                <a:alpha val="20000"/>
              </a:prstClr>
            </a:outerShdw>
          </a:effec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333"/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FOR BEST ENGAGE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67">
                <a:solidFill>
                  <a:schemeClr val="bg1"/>
                </a:solidFill>
              </a:rPr>
              <a:t>DỰ TRÙ KINH PHÍ – MUA TRỌN GÓI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5" name="Freeform 4"/>
          <p:cNvSpPr/>
          <p:nvPr/>
        </p:nvSpPr>
        <p:spPr bwMode="auto">
          <a:xfrm>
            <a:off x="8086823" y="3095689"/>
            <a:ext cx="3093205" cy="1814638"/>
          </a:xfrm>
          <a:custGeom>
            <a:avLst/>
            <a:gdLst>
              <a:gd name="connsiteX0" fmla="*/ 0 w 1946148"/>
              <a:gd name="connsiteY0" fmla="*/ 0 h 1930634"/>
              <a:gd name="connsiteX1" fmla="*/ 1946148 w 1946148"/>
              <a:gd name="connsiteY1" fmla="*/ 0 h 1930634"/>
              <a:gd name="connsiteX2" fmla="*/ 1946148 w 1946148"/>
              <a:gd name="connsiteY2" fmla="*/ 1930634 h 1930634"/>
              <a:gd name="connsiteX3" fmla="*/ 0 w 1946148"/>
              <a:gd name="connsiteY3" fmla="*/ 1930634 h 193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1930634">
                <a:moveTo>
                  <a:pt x="0" y="0"/>
                </a:moveTo>
                <a:lnTo>
                  <a:pt x="1946148" y="0"/>
                </a:lnTo>
                <a:lnTo>
                  <a:pt x="1946148" y="1930634"/>
                </a:lnTo>
                <a:lnTo>
                  <a:pt x="0" y="193063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333"/>
          </a:p>
        </p:txBody>
      </p:sp>
      <p:sp>
        <p:nvSpPr>
          <p:cNvPr id="6" name="Freeform 5"/>
          <p:cNvSpPr/>
          <p:nvPr/>
        </p:nvSpPr>
        <p:spPr bwMode="auto">
          <a:xfrm>
            <a:off x="8084269" y="2969294"/>
            <a:ext cx="3093204" cy="126067"/>
          </a:xfrm>
          <a:custGeom>
            <a:avLst/>
            <a:gdLst>
              <a:gd name="connsiteX0" fmla="*/ 0 w 1946148"/>
              <a:gd name="connsiteY0" fmla="*/ 0 h 455432"/>
              <a:gd name="connsiteX1" fmla="*/ 1946148 w 1946148"/>
              <a:gd name="connsiteY1" fmla="*/ 0 h 455432"/>
              <a:gd name="connsiteX2" fmla="*/ 1946148 w 1946148"/>
              <a:gd name="connsiteY2" fmla="*/ 455432 h 455432"/>
              <a:gd name="connsiteX3" fmla="*/ 0 w 1946148"/>
              <a:gd name="connsiteY3" fmla="*/ 455432 h 45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455432">
                <a:moveTo>
                  <a:pt x="0" y="0"/>
                </a:moveTo>
                <a:lnTo>
                  <a:pt x="1946148" y="0"/>
                </a:lnTo>
                <a:lnTo>
                  <a:pt x="1946148" y="455432"/>
                </a:lnTo>
                <a:lnTo>
                  <a:pt x="0" y="45543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1899184" y="2028179"/>
            <a:ext cx="2594864" cy="105757"/>
          </a:xfrm>
          <a:custGeom>
            <a:avLst/>
            <a:gdLst>
              <a:gd name="connsiteX0" fmla="*/ 0 w 1946148"/>
              <a:gd name="connsiteY0" fmla="*/ 0 h 455432"/>
              <a:gd name="connsiteX1" fmla="*/ 1946148 w 1946148"/>
              <a:gd name="connsiteY1" fmla="*/ 0 h 455432"/>
              <a:gd name="connsiteX2" fmla="*/ 1946148 w 1946148"/>
              <a:gd name="connsiteY2" fmla="*/ 455432 h 455432"/>
              <a:gd name="connsiteX3" fmla="*/ 0 w 1946148"/>
              <a:gd name="connsiteY3" fmla="*/ 455432 h 45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455432">
                <a:moveTo>
                  <a:pt x="0" y="0"/>
                </a:moveTo>
                <a:lnTo>
                  <a:pt x="1946148" y="0"/>
                </a:lnTo>
                <a:lnTo>
                  <a:pt x="1946148" y="455432"/>
                </a:lnTo>
                <a:lnTo>
                  <a:pt x="0" y="455432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4466067" y="1701800"/>
            <a:ext cx="3778497" cy="4817272"/>
          </a:xfrm>
          <a:custGeom>
            <a:avLst/>
            <a:gdLst>
              <a:gd name="connsiteX0" fmla="*/ 0 w 1946148"/>
              <a:gd name="connsiteY0" fmla="*/ 0 h 1930634"/>
              <a:gd name="connsiteX1" fmla="*/ 1946148 w 1946148"/>
              <a:gd name="connsiteY1" fmla="*/ 0 h 1930634"/>
              <a:gd name="connsiteX2" fmla="*/ 1946148 w 1946148"/>
              <a:gd name="connsiteY2" fmla="*/ 1930634 h 1930634"/>
              <a:gd name="connsiteX3" fmla="*/ 0 w 1946148"/>
              <a:gd name="connsiteY3" fmla="*/ 1930634 h 193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1930634">
                <a:moveTo>
                  <a:pt x="0" y="0"/>
                </a:moveTo>
                <a:lnTo>
                  <a:pt x="1946148" y="0"/>
                </a:lnTo>
                <a:lnTo>
                  <a:pt x="1946148" y="1930634"/>
                </a:lnTo>
                <a:lnTo>
                  <a:pt x="0" y="1930634"/>
                </a:ln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23" name="Rectangle 22"/>
          <p:cNvSpPr/>
          <p:nvPr/>
        </p:nvSpPr>
        <p:spPr>
          <a:xfrm>
            <a:off x="8263018" y="3413822"/>
            <a:ext cx="2852576" cy="37965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867" b="1">
                <a:solidFill>
                  <a:schemeClr val="accent3"/>
                </a:solidFill>
              </a:rPr>
              <a:t>NÂNG CẤP TÍNH NĂNG</a:t>
            </a:r>
            <a:endParaRPr lang="en-US" sz="1867" b="1" dirty="0">
              <a:solidFill>
                <a:schemeClr val="accent3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222343" y="3788294"/>
            <a:ext cx="2936709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10$ /giờ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344958" y="4703937"/>
            <a:ext cx="2155488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Bài test Non-realtime cho lớp online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344958" y="3875949"/>
            <a:ext cx="1879787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Tải tài liệu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44958" y="4151944"/>
            <a:ext cx="1879787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Ký tên điểm danh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344958" y="4427940"/>
            <a:ext cx="1879787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Bài test realtime cho lớp offline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344958" y="4979933"/>
            <a:ext cx="1879787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Xáo trộn thứ tự câu hỏi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F4BE8A-6CE2-473F-B309-BEE401C06A84}"/>
              </a:ext>
            </a:extLst>
          </p:cNvPr>
          <p:cNvGrpSpPr/>
          <p:nvPr/>
        </p:nvGrpSpPr>
        <p:grpSpPr>
          <a:xfrm>
            <a:off x="2071143" y="3599953"/>
            <a:ext cx="2153602" cy="215957"/>
            <a:chOff x="2252035" y="3348700"/>
            <a:chExt cx="2153602" cy="215957"/>
          </a:xfrm>
        </p:grpSpPr>
        <p:sp>
          <p:nvSpPr>
            <p:cNvPr id="41" name="Rectangle 40"/>
            <p:cNvSpPr/>
            <p:nvPr/>
          </p:nvSpPr>
          <p:spPr>
            <a:xfrm>
              <a:off x="2525850" y="3348700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Xuất QR Code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Freeform 13"/>
            <p:cNvSpPr>
              <a:spLocks/>
            </p:cNvSpPr>
            <p:nvPr/>
          </p:nvSpPr>
          <p:spPr bwMode="auto">
            <a:xfrm>
              <a:off x="2252035" y="338853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7" name="Freeform 13"/>
          <p:cNvSpPr>
            <a:spLocks/>
          </p:cNvSpPr>
          <p:nvPr/>
        </p:nvSpPr>
        <p:spPr bwMode="auto">
          <a:xfrm>
            <a:off x="2071143" y="3915781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8" name="Freeform 13"/>
          <p:cNvSpPr>
            <a:spLocks/>
          </p:cNvSpPr>
          <p:nvPr/>
        </p:nvSpPr>
        <p:spPr bwMode="auto">
          <a:xfrm>
            <a:off x="2071143" y="4177883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9" name="Freeform 13"/>
          <p:cNvSpPr>
            <a:spLocks/>
          </p:cNvSpPr>
          <p:nvPr/>
        </p:nvSpPr>
        <p:spPr bwMode="auto">
          <a:xfrm>
            <a:off x="2071143" y="4467773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0" name="Freeform 13"/>
          <p:cNvSpPr>
            <a:spLocks/>
          </p:cNvSpPr>
          <p:nvPr/>
        </p:nvSpPr>
        <p:spPr bwMode="auto">
          <a:xfrm>
            <a:off x="2071143" y="4743769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1" name="Freeform 50"/>
          <p:cNvSpPr/>
          <p:nvPr/>
        </p:nvSpPr>
        <p:spPr bwMode="auto">
          <a:xfrm>
            <a:off x="2110545" y="5028319"/>
            <a:ext cx="121661" cy="121661"/>
          </a:xfrm>
          <a:custGeom>
            <a:avLst/>
            <a:gdLst>
              <a:gd name="connsiteX0" fmla="*/ 323290 w 355618"/>
              <a:gd name="connsiteY0" fmla="*/ 0 h 355619"/>
              <a:gd name="connsiteX1" fmla="*/ 355617 w 355618"/>
              <a:gd name="connsiteY1" fmla="*/ 32329 h 355619"/>
              <a:gd name="connsiteX2" fmla="*/ 210137 w 355618"/>
              <a:gd name="connsiteY2" fmla="*/ 177809 h 355619"/>
              <a:gd name="connsiteX3" fmla="*/ 355618 w 355618"/>
              <a:gd name="connsiteY3" fmla="*/ 323290 h 355619"/>
              <a:gd name="connsiteX4" fmla="*/ 323290 w 355618"/>
              <a:gd name="connsiteY4" fmla="*/ 355618 h 355619"/>
              <a:gd name="connsiteX5" fmla="*/ 177809 w 355618"/>
              <a:gd name="connsiteY5" fmla="*/ 210138 h 355619"/>
              <a:gd name="connsiteX6" fmla="*/ 32328 w 355618"/>
              <a:gd name="connsiteY6" fmla="*/ 355619 h 355619"/>
              <a:gd name="connsiteX7" fmla="*/ 0 w 355618"/>
              <a:gd name="connsiteY7" fmla="*/ 323291 h 355619"/>
              <a:gd name="connsiteX8" fmla="*/ 145480 w 355618"/>
              <a:gd name="connsiteY8" fmla="*/ 177809 h 355619"/>
              <a:gd name="connsiteX9" fmla="*/ 0 w 355618"/>
              <a:gd name="connsiteY9" fmla="*/ 32329 h 355619"/>
              <a:gd name="connsiteX10" fmla="*/ 32328 w 355618"/>
              <a:gd name="connsiteY10" fmla="*/ 1 h 355619"/>
              <a:gd name="connsiteX11" fmla="*/ 177809 w 355618"/>
              <a:gd name="connsiteY11" fmla="*/ 145481 h 355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5618" h="355619">
                <a:moveTo>
                  <a:pt x="323290" y="0"/>
                </a:moveTo>
                <a:lnTo>
                  <a:pt x="355617" y="32329"/>
                </a:lnTo>
                <a:lnTo>
                  <a:pt x="210137" y="177809"/>
                </a:lnTo>
                <a:lnTo>
                  <a:pt x="355618" y="323290"/>
                </a:lnTo>
                <a:lnTo>
                  <a:pt x="323290" y="355618"/>
                </a:lnTo>
                <a:lnTo>
                  <a:pt x="177809" y="210138"/>
                </a:lnTo>
                <a:lnTo>
                  <a:pt x="32328" y="355619"/>
                </a:lnTo>
                <a:lnTo>
                  <a:pt x="0" y="323291"/>
                </a:lnTo>
                <a:lnTo>
                  <a:pt x="145480" y="177809"/>
                </a:lnTo>
                <a:lnTo>
                  <a:pt x="0" y="32329"/>
                </a:lnTo>
                <a:lnTo>
                  <a:pt x="32328" y="1"/>
                </a:lnTo>
                <a:lnTo>
                  <a:pt x="177809" y="14548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52" name="Rectangle 51"/>
          <p:cNvSpPr/>
          <p:nvPr/>
        </p:nvSpPr>
        <p:spPr>
          <a:xfrm>
            <a:off x="1893152" y="2263396"/>
            <a:ext cx="2337499" cy="37965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867" b="1">
                <a:solidFill>
                  <a:schemeClr val="accent1"/>
                </a:solidFill>
              </a:rPr>
              <a:t>TÍNH NĂNG CHÍNH</a:t>
            </a:r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084013" y="3507473"/>
            <a:ext cx="1863425" cy="1435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933" dirty="0">
                <a:solidFill>
                  <a:schemeClr val="bg1">
                    <a:lumMod val="65000"/>
                  </a:schemeClr>
                </a:solidFill>
              </a:rPr>
              <a:t>Per 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08126" y="2662839"/>
            <a:ext cx="184731" cy="42056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endParaRPr lang="en-US" sz="2133" dirty="0">
              <a:solidFill>
                <a:schemeClr val="accent2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164289" y="3124823"/>
            <a:ext cx="1863425" cy="18466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Per Month</a:t>
            </a:r>
          </a:p>
        </p:txBody>
      </p:sp>
      <p:sp>
        <p:nvSpPr>
          <p:cNvPr id="68" name="Freeform 13">
            <a:extLst>
              <a:ext uri="{FF2B5EF4-FFF2-40B4-BE49-F238E27FC236}">
                <a16:creationId xmlns:a16="http://schemas.microsoft.com/office/drawing/2014/main" id="{7594A034-7A19-40A9-9541-7B8E2B22263C}"/>
              </a:ext>
            </a:extLst>
          </p:cNvPr>
          <p:cNvSpPr>
            <a:spLocks/>
          </p:cNvSpPr>
          <p:nvPr/>
        </p:nvSpPr>
        <p:spPr bwMode="auto">
          <a:xfrm>
            <a:off x="2075710" y="5025306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70" name="Freeform 50">
            <a:extLst>
              <a:ext uri="{FF2B5EF4-FFF2-40B4-BE49-F238E27FC236}">
                <a16:creationId xmlns:a16="http://schemas.microsoft.com/office/drawing/2014/main" id="{F9AFEF99-C129-4C65-81E9-D9A68C12A1E8}"/>
              </a:ext>
            </a:extLst>
          </p:cNvPr>
          <p:cNvSpPr/>
          <p:nvPr/>
        </p:nvSpPr>
        <p:spPr bwMode="auto">
          <a:xfrm>
            <a:off x="2116451" y="5281858"/>
            <a:ext cx="121661" cy="121661"/>
          </a:xfrm>
          <a:custGeom>
            <a:avLst/>
            <a:gdLst>
              <a:gd name="connsiteX0" fmla="*/ 323290 w 355618"/>
              <a:gd name="connsiteY0" fmla="*/ 0 h 355619"/>
              <a:gd name="connsiteX1" fmla="*/ 355617 w 355618"/>
              <a:gd name="connsiteY1" fmla="*/ 32329 h 355619"/>
              <a:gd name="connsiteX2" fmla="*/ 210137 w 355618"/>
              <a:gd name="connsiteY2" fmla="*/ 177809 h 355619"/>
              <a:gd name="connsiteX3" fmla="*/ 355618 w 355618"/>
              <a:gd name="connsiteY3" fmla="*/ 323290 h 355619"/>
              <a:gd name="connsiteX4" fmla="*/ 323290 w 355618"/>
              <a:gd name="connsiteY4" fmla="*/ 355618 h 355619"/>
              <a:gd name="connsiteX5" fmla="*/ 177809 w 355618"/>
              <a:gd name="connsiteY5" fmla="*/ 210138 h 355619"/>
              <a:gd name="connsiteX6" fmla="*/ 32328 w 355618"/>
              <a:gd name="connsiteY6" fmla="*/ 355619 h 355619"/>
              <a:gd name="connsiteX7" fmla="*/ 0 w 355618"/>
              <a:gd name="connsiteY7" fmla="*/ 323291 h 355619"/>
              <a:gd name="connsiteX8" fmla="*/ 145480 w 355618"/>
              <a:gd name="connsiteY8" fmla="*/ 177809 h 355619"/>
              <a:gd name="connsiteX9" fmla="*/ 0 w 355618"/>
              <a:gd name="connsiteY9" fmla="*/ 32329 h 355619"/>
              <a:gd name="connsiteX10" fmla="*/ 32328 w 355618"/>
              <a:gd name="connsiteY10" fmla="*/ 1 h 355619"/>
              <a:gd name="connsiteX11" fmla="*/ 177809 w 355618"/>
              <a:gd name="connsiteY11" fmla="*/ 145481 h 355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5618" h="355619">
                <a:moveTo>
                  <a:pt x="323290" y="0"/>
                </a:moveTo>
                <a:lnTo>
                  <a:pt x="355617" y="32329"/>
                </a:lnTo>
                <a:lnTo>
                  <a:pt x="210137" y="177809"/>
                </a:lnTo>
                <a:lnTo>
                  <a:pt x="355618" y="323290"/>
                </a:lnTo>
                <a:lnTo>
                  <a:pt x="323290" y="355618"/>
                </a:lnTo>
                <a:lnTo>
                  <a:pt x="177809" y="210138"/>
                </a:lnTo>
                <a:lnTo>
                  <a:pt x="32328" y="355619"/>
                </a:lnTo>
                <a:lnTo>
                  <a:pt x="0" y="323291"/>
                </a:lnTo>
                <a:lnTo>
                  <a:pt x="145480" y="177809"/>
                </a:lnTo>
                <a:lnTo>
                  <a:pt x="0" y="32329"/>
                </a:lnTo>
                <a:lnTo>
                  <a:pt x="32328" y="1"/>
                </a:lnTo>
                <a:lnTo>
                  <a:pt x="177809" y="14548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8350A62-9FB0-4FE1-8B68-8035E5CDAB7C}"/>
              </a:ext>
            </a:extLst>
          </p:cNvPr>
          <p:cNvGrpSpPr/>
          <p:nvPr/>
        </p:nvGrpSpPr>
        <p:grpSpPr>
          <a:xfrm>
            <a:off x="2081616" y="5233472"/>
            <a:ext cx="2149035" cy="215957"/>
            <a:chOff x="2262508" y="5259119"/>
            <a:chExt cx="2149035" cy="215957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C03EDB5-8AC9-47BF-B0CE-BED5CAA925BF}"/>
                </a:ext>
              </a:extLst>
            </p:cNvPr>
            <p:cNvSpPr/>
            <p:nvPr/>
          </p:nvSpPr>
          <p:spPr>
            <a:xfrm>
              <a:off x="2531756" y="5259119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Trang report cơ bản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13">
              <a:extLst>
                <a:ext uri="{FF2B5EF4-FFF2-40B4-BE49-F238E27FC236}">
                  <a16:creationId xmlns:a16="http://schemas.microsoft.com/office/drawing/2014/main" id="{CFB28E3D-3EA1-484E-87DE-E1D0F2A45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0449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A197FE9-E483-4259-AD9E-913B47C1693C}"/>
              </a:ext>
            </a:extLst>
          </p:cNvPr>
          <p:cNvGrpSpPr/>
          <p:nvPr/>
        </p:nvGrpSpPr>
        <p:grpSpPr>
          <a:xfrm>
            <a:off x="2070731" y="3303949"/>
            <a:ext cx="2153602" cy="215957"/>
            <a:chOff x="2252035" y="3348700"/>
            <a:chExt cx="2153602" cy="215957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D78BF27-D1D4-45FD-BC77-880FF9B2EC3A}"/>
                </a:ext>
              </a:extLst>
            </p:cNvPr>
            <p:cNvSpPr/>
            <p:nvPr/>
          </p:nvSpPr>
          <p:spPr>
            <a:xfrm>
              <a:off x="2525850" y="3348700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Số user tùy thuộc server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DACBC4ED-70FE-496D-B63B-FBD1AC429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035" y="338853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979E476-15F1-448B-BC5D-2AB0A76B2D94}"/>
              </a:ext>
            </a:extLst>
          </p:cNvPr>
          <p:cNvGrpSpPr/>
          <p:nvPr/>
        </p:nvGrpSpPr>
        <p:grpSpPr>
          <a:xfrm>
            <a:off x="4636609" y="2831626"/>
            <a:ext cx="2595688" cy="323678"/>
            <a:chOff x="4930376" y="3380682"/>
            <a:chExt cx="2595688" cy="323678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EB46F8-F21D-401A-9B2C-33F3BDCE6A4C}"/>
                </a:ext>
              </a:extLst>
            </p:cNvPr>
            <p:cNvSpPr/>
            <p:nvPr/>
          </p:nvSpPr>
          <p:spPr>
            <a:xfrm>
              <a:off x="5260399" y="3380682"/>
              <a:ext cx="2265665" cy="32367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800k/ tên miền / năm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Freeform 13">
              <a:extLst>
                <a:ext uri="{FF2B5EF4-FFF2-40B4-BE49-F238E27FC236}">
                  <a16:creationId xmlns:a16="http://schemas.microsoft.com/office/drawing/2014/main" id="{025E59C7-411D-464E-9D50-001A19676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0376" y="3428691"/>
              <a:ext cx="241615" cy="200748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32E889D-4C10-4BE5-B1D8-9AD43A1A4E30}"/>
              </a:ext>
            </a:extLst>
          </p:cNvPr>
          <p:cNvGrpSpPr/>
          <p:nvPr/>
        </p:nvGrpSpPr>
        <p:grpSpPr>
          <a:xfrm>
            <a:off x="4596118" y="4090696"/>
            <a:ext cx="3221402" cy="1062342"/>
            <a:chOff x="4914728" y="3382568"/>
            <a:chExt cx="3221402" cy="1062342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C47687F-C554-4339-B3B7-433C9287E1EF}"/>
                </a:ext>
              </a:extLst>
            </p:cNvPr>
            <p:cNvSpPr/>
            <p:nvPr/>
          </p:nvSpPr>
          <p:spPr>
            <a:xfrm>
              <a:off x="5225471" y="3382568"/>
              <a:ext cx="2910659" cy="106234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5.500.000đ/CPU Intel Xeon E5-26xx, 8Gb Ram – tối đa 500 user  </a:t>
              </a:r>
              <a:r>
                <a:rPr lang="en-US" sz="1600">
                  <a:solidFill>
                    <a:srgbClr val="FF0000"/>
                  </a:solidFill>
                </a:rPr>
                <a:t>x12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tháng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45E14BCD-DAE7-4FFF-92B0-B0001031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728" y="3439664"/>
              <a:ext cx="241615" cy="200748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2A40C18-64CC-44F7-91CE-0921D40418DF}"/>
              </a:ext>
            </a:extLst>
          </p:cNvPr>
          <p:cNvGrpSpPr/>
          <p:nvPr/>
        </p:nvGrpSpPr>
        <p:grpSpPr>
          <a:xfrm>
            <a:off x="2088132" y="5538071"/>
            <a:ext cx="2149035" cy="215957"/>
            <a:chOff x="2262508" y="5259119"/>
            <a:chExt cx="2149035" cy="215957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FB35C79-AB63-49FF-9852-F2ECD853B2C6}"/>
                </a:ext>
              </a:extLst>
            </p:cNvPr>
            <p:cNvSpPr/>
            <p:nvPr/>
          </p:nvSpPr>
          <p:spPr>
            <a:xfrm>
              <a:off x="2531756" y="5259119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Hỗ trợ kỹ thuật 01 năm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5" name="Freeform 13">
              <a:extLst>
                <a:ext uri="{FF2B5EF4-FFF2-40B4-BE49-F238E27FC236}">
                  <a16:creationId xmlns:a16="http://schemas.microsoft.com/office/drawing/2014/main" id="{A6FDA1CE-9F79-45B6-8836-585D6EB55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0449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7378FA5-8378-4A87-87D8-91745C4C423D}"/>
              </a:ext>
            </a:extLst>
          </p:cNvPr>
          <p:cNvGrpSpPr/>
          <p:nvPr/>
        </p:nvGrpSpPr>
        <p:grpSpPr>
          <a:xfrm>
            <a:off x="2143466" y="2674596"/>
            <a:ext cx="1884018" cy="523220"/>
            <a:chOff x="1730716" y="2019162"/>
            <a:chExt cx="1413013" cy="39241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CE3BF2A-10FF-427A-BEBD-C8211F2F5C9A}"/>
                </a:ext>
              </a:extLst>
            </p:cNvPr>
            <p:cNvSpPr/>
            <p:nvPr/>
          </p:nvSpPr>
          <p:spPr>
            <a:xfrm>
              <a:off x="1730716" y="2019162"/>
              <a:ext cx="907112" cy="39241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2.900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B9282A7-2E65-4C0C-BBC7-1561F78E3AF8}"/>
                </a:ext>
              </a:extLst>
            </p:cNvPr>
            <p:cNvSpPr/>
            <p:nvPr/>
          </p:nvSpPr>
          <p:spPr>
            <a:xfrm>
              <a:off x="2363377" y="2019558"/>
              <a:ext cx="780352" cy="31542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133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000đ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7924959E-492D-4B2F-8E82-3C8427A54326}"/>
              </a:ext>
            </a:extLst>
          </p:cNvPr>
          <p:cNvSpPr/>
          <p:nvPr/>
        </p:nvSpPr>
        <p:spPr>
          <a:xfrm>
            <a:off x="3081604" y="3005603"/>
            <a:ext cx="104047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x12 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tháng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4197AF0-2D6F-4969-A3B5-BED0BCEBC9F9}"/>
              </a:ext>
            </a:extLst>
          </p:cNvPr>
          <p:cNvSpPr/>
          <p:nvPr/>
        </p:nvSpPr>
        <p:spPr>
          <a:xfrm>
            <a:off x="4590663" y="1782597"/>
            <a:ext cx="2146743" cy="37965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867" b="1">
                <a:solidFill>
                  <a:schemeClr val="accent1"/>
                </a:solidFill>
              </a:rPr>
              <a:t>CƠ SỞ HẠ TẦNG</a:t>
            </a:r>
            <a:endParaRPr lang="en-US" sz="1867" b="1" dirty="0">
              <a:solidFill>
                <a:schemeClr val="accent1"/>
              </a:solidFill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3AB0FD2-812D-46F8-84A5-6D41A035999E}"/>
              </a:ext>
            </a:extLst>
          </p:cNvPr>
          <p:cNvGrpSpPr/>
          <p:nvPr/>
        </p:nvGrpSpPr>
        <p:grpSpPr>
          <a:xfrm>
            <a:off x="4590663" y="5276495"/>
            <a:ext cx="3493606" cy="1062342"/>
            <a:chOff x="4914728" y="3382568"/>
            <a:chExt cx="3493606" cy="1062342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DC62CCE-234C-42F8-B1BC-3A91AB987C12}"/>
                </a:ext>
              </a:extLst>
            </p:cNvPr>
            <p:cNvSpPr/>
            <p:nvPr/>
          </p:nvSpPr>
          <p:spPr>
            <a:xfrm>
              <a:off x="5225471" y="3382568"/>
              <a:ext cx="3182863" cy="106234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8.300.000đ/CPU: 2 x Intel Xeon-Silver 4110, 32Gb Ram – tối đa 1000 user </a:t>
              </a:r>
              <a:r>
                <a:rPr lang="en-US" sz="1600">
                  <a:solidFill>
                    <a:srgbClr val="FF0000"/>
                  </a:solidFill>
                </a:rPr>
                <a:t>x12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tháng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6" name="Freeform 13">
              <a:extLst>
                <a:ext uri="{FF2B5EF4-FFF2-40B4-BE49-F238E27FC236}">
                  <a16:creationId xmlns:a16="http://schemas.microsoft.com/office/drawing/2014/main" id="{DB690CC0-9228-49A6-BEFF-7B3CF955A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728" y="3439664"/>
              <a:ext cx="241615" cy="200748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40912A2-BC03-4457-9C95-6A94DB0932C9}"/>
              </a:ext>
            </a:extLst>
          </p:cNvPr>
          <p:cNvGrpSpPr/>
          <p:nvPr/>
        </p:nvGrpSpPr>
        <p:grpSpPr>
          <a:xfrm>
            <a:off x="4487399" y="2214234"/>
            <a:ext cx="1884018" cy="523220"/>
            <a:chOff x="1730716" y="2019162"/>
            <a:chExt cx="1413013" cy="392415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A99CCD6-93A3-4554-AB7E-CB33F4821EA6}"/>
                </a:ext>
              </a:extLst>
            </p:cNvPr>
            <p:cNvSpPr/>
            <p:nvPr/>
          </p:nvSpPr>
          <p:spPr>
            <a:xfrm>
              <a:off x="1730716" y="2019162"/>
              <a:ext cx="907112" cy="39241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1.267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96E123C-B608-41A8-B52F-E83EAFF7BDA1}"/>
                </a:ext>
              </a:extLst>
            </p:cNvPr>
            <p:cNvSpPr/>
            <p:nvPr/>
          </p:nvSpPr>
          <p:spPr>
            <a:xfrm>
              <a:off x="2363377" y="2019558"/>
              <a:ext cx="780352" cy="31542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133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000đ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4F13DB2-7BE7-4FD0-92B6-F7A0D8FD9287}"/>
              </a:ext>
            </a:extLst>
          </p:cNvPr>
          <p:cNvSpPr/>
          <p:nvPr/>
        </p:nvSpPr>
        <p:spPr>
          <a:xfrm>
            <a:off x="5348575" y="2534940"/>
            <a:ext cx="104047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x12 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tháng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167A1F3-A35B-411D-8679-CD7EF2B8414B}"/>
              </a:ext>
            </a:extLst>
          </p:cNvPr>
          <p:cNvGrpSpPr/>
          <p:nvPr/>
        </p:nvGrpSpPr>
        <p:grpSpPr>
          <a:xfrm>
            <a:off x="4645267" y="3271107"/>
            <a:ext cx="3221402" cy="693010"/>
            <a:chOff x="4914728" y="3382568"/>
            <a:chExt cx="3221402" cy="69301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092D011-8A8E-4736-BCBE-3574DC9D5377}"/>
                </a:ext>
              </a:extLst>
            </p:cNvPr>
            <p:cNvSpPr/>
            <p:nvPr/>
          </p:nvSpPr>
          <p:spPr>
            <a:xfrm>
              <a:off x="5225471" y="3382568"/>
              <a:ext cx="2910659" cy="69301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1.200.000đ/VPS, 3Gb Ram – tối đa 200 user  </a:t>
              </a:r>
              <a:r>
                <a:rPr lang="en-US" sz="1600">
                  <a:solidFill>
                    <a:srgbClr val="FF0000"/>
                  </a:solidFill>
                </a:rPr>
                <a:t>x12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tháng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6" name="Freeform 13">
              <a:extLst>
                <a:ext uri="{FF2B5EF4-FFF2-40B4-BE49-F238E27FC236}">
                  <a16:creationId xmlns:a16="http://schemas.microsoft.com/office/drawing/2014/main" id="{342B8ED7-F433-40E5-A09D-E1122EEB2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728" y="3439664"/>
              <a:ext cx="241615" cy="200748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AECC90E-8BAA-49B5-8C3A-3FEE3CF7F968}"/>
              </a:ext>
            </a:extLst>
          </p:cNvPr>
          <p:cNvGrpSpPr/>
          <p:nvPr/>
        </p:nvGrpSpPr>
        <p:grpSpPr>
          <a:xfrm>
            <a:off x="6379000" y="2178230"/>
            <a:ext cx="1884018" cy="523220"/>
            <a:chOff x="1730716" y="2019162"/>
            <a:chExt cx="1413013" cy="392415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AE07714-D7C8-4C33-9556-0B43B2D3185A}"/>
                </a:ext>
              </a:extLst>
            </p:cNvPr>
            <p:cNvSpPr/>
            <p:nvPr/>
          </p:nvSpPr>
          <p:spPr>
            <a:xfrm>
              <a:off x="1730716" y="2019162"/>
              <a:ext cx="907112" cy="39241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8.367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A40CAFF-A3EF-4305-9A67-52CDE4884A9E}"/>
                </a:ext>
              </a:extLst>
            </p:cNvPr>
            <p:cNvSpPr/>
            <p:nvPr/>
          </p:nvSpPr>
          <p:spPr>
            <a:xfrm>
              <a:off x="2363377" y="2019558"/>
              <a:ext cx="780352" cy="31542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133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000đ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6F2E517-1941-4811-A51F-00E55C7ACF33}"/>
              </a:ext>
            </a:extLst>
          </p:cNvPr>
          <p:cNvSpPr/>
          <p:nvPr/>
        </p:nvSpPr>
        <p:spPr>
          <a:xfrm>
            <a:off x="7226399" y="2497745"/>
            <a:ext cx="104047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x12 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tháng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8D4BF0-67DF-49B6-B04A-3BC1DD9D3E0E}"/>
              </a:ext>
            </a:extLst>
          </p:cNvPr>
          <p:cNvCxnSpPr/>
          <p:nvPr/>
        </p:nvCxnSpPr>
        <p:spPr>
          <a:xfrm>
            <a:off x="6279644" y="2461806"/>
            <a:ext cx="1316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83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66"/>
          <p:cNvSpPr/>
          <p:nvPr/>
        </p:nvSpPr>
        <p:spPr bwMode="auto">
          <a:xfrm flipH="1">
            <a:off x="0" y="0"/>
            <a:ext cx="12192000" cy="3225367"/>
          </a:xfrm>
          <a:custGeom>
            <a:avLst/>
            <a:gdLst>
              <a:gd name="connsiteX0" fmla="*/ 9144000 w 9144000"/>
              <a:gd name="connsiteY0" fmla="*/ 0 h 2571750"/>
              <a:gd name="connsiteX1" fmla="*/ 0 w 9144000"/>
              <a:gd name="connsiteY1" fmla="*/ 0 h 2571750"/>
              <a:gd name="connsiteX2" fmla="*/ 0 w 9144000"/>
              <a:gd name="connsiteY2" fmla="*/ 2571750 h 2571750"/>
              <a:gd name="connsiteX3" fmla="*/ 4495806 w 9144000"/>
              <a:gd name="connsiteY3" fmla="*/ 2571750 h 2571750"/>
              <a:gd name="connsiteX4" fmla="*/ 5174148 w 9144000"/>
              <a:gd name="connsiteY4" fmla="*/ 2571750 h 2571750"/>
              <a:gd name="connsiteX5" fmla="*/ 8269422 w 9144000"/>
              <a:gd name="connsiteY5" fmla="*/ 2571750 h 2571750"/>
              <a:gd name="connsiteX6" fmla="*/ 8593938 w 9144000"/>
              <a:gd name="connsiteY6" fmla="*/ 2571750 h 2571750"/>
              <a:gd name="connsiteX7" fmla="*/ 9144000 w 9144000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2571750"/>
                </a:lnTo>
                <a:lnTo>
                  <a:pt x="4495806" y="2571750"/>
                </a:lnTo>
                <a:lnTo>
                  <a:pt x="5174148" y="2571750"/>
                </a:lnTo>
                <a:lnTo>
                  <a:pt x="8269422" y="2571750"/>
                </a:lnTo>
                <a:lnTo>
                  <a:pt x="8593938" y="2571750"/>
                </a:lnTo>
                <a:lnTo>
                  <a:pt x="9144000" y="257175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  <a:gs pos="100000">
                <a:schemeClr val="accent3"/>
              </a:gs>
            </a:gsLst>
            <a:lin ang="2700000" scaled="1"/>
            <a:tileRect/>
          </a:gradFill>
          <a:ln w="9525">
            <a:noFill/>
            <a:round/>
            <a:headEnd/>
            <a:tailEnd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ar-SY" sz="2400" dirty="0"/>
              <a:t> </a:t>
            </a:r>
            <a:endParaRPr lang="en-US" sz="2400" dirty="0"/>
          </a:p>
        </p:txBody>
      </p:sp>
      <p:sp>
        <p:nvSpPr>
          <p:cNvPr id="7" name="Freeform 6"/>
          <p:cNvSpPr/>
          <p:nvPr/>
        </p:nvSpPr>
        <p:spPr bwMode="auto">
          <a:xfrm>
            <a:off x="1899184" y="2028179"/>
            <a:ext cx="2594864" cy="4164515"/>
          </a:xfrm>
          <a:custGeom>
            <a:avLst/>
            <a:gdLst>
              <a:gd name="connsiteX0" fmla="*/ 0 w 1946148"/>
              <a:gd name="connsiteY0" fmla="*/ 0 h 1930634"/>
              <a:gd name="connsiteX1" fmla="*/ 1946148 w 1946148"/>
              <a:gd name="connsiteY1" fmla="*/ 0 h 1930634"/>
              <a:gd name="connsiteX2" fmla="*/ 1946148 w 1946148"/>
              <a:gd name="connsiteY2" fmla="*/ 1930634 h 1930634"/>
              <a:gd name="connsiteX3" fmla="*/ 0 w 1946148"/>
              <a:gd name="connsiteY3" fmla="*/ 1930634 h 193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1930634">
                <a:moveTo>
                  <a:pt x="0" y="0"/>
                </a:moveTo>
                <a:lnTo>
                  <a:pt x="1946148" y="0"/>
                </a:lnTo>
                <a:lnTo>
                  <a:pt x="1946148" y="1930634"/>
                </a:lnTo>
                <a:lnTo>
                  <a:pt x="0" y="193063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0800" dist="38100" dir="8100000" algn="tr" rotWithShape="0">
              <a:prstClr val="black">
                <a:alpha val="20000"/>
              </a:prstClr>
            </a:outerShdw>
          </a:effec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333"/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FOR BEST ENGAGE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67">
                <a:solidFill>
                  <a:schemeClr val="bg1"/>
                </a:solidFill>
              </a:rPr>
              <a:t>DỰ TRÙ KINH PHÍ – THUÊ BAO HÀNG THÁNG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5" name="Freeform 4"/>
          <p:cNvSpPr/>
          <p:nvPr/>
        </p:nvSpPr>
        <p:spPr bwMode="auto">
          <a:xfrm>
            <a:off x="8086824" y="2143410"/>
            <a:ext cx="2594864" cy="4164515"/>
          </a:xfrm>
          <a:custGeom>
            <a:avLst/>
            <a:gdLst>
              <a:gd name="connsiteX0" fmla="*/ 0 w 1946148"/>
              <a:gd name="connsiteY0" fmla="*/ 0 h 1930634"/>
              <a:gd name="connsiteX1" fmla="*/ 1946148 w 1946148"/>
              <a:gd name="connsiteY1" fmla="*/ 0 h 1930634"/>
              <a:gd name="connsiteX2" fmla="*/ 1946148 w 1946148"/>
              <a:gd name="connsiteY2" fmla="*/ 1930634 h 1930634"/>
              <a:gd name="connsiteX3" fmla="*/ 0 w 1946148"/>
              <a:gd name="connsiteY3" fmla="*/ 1930634 h 193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1930634">
                <a:moveTo>
                  <a:pt x="0" y="0"/>
                </a:moveTo>
                <a:lnTo>
                  <a:pt x="1946148" y="0"/>
                </a:lnTo>
                <a:lnTo>
                  <a:pt x="1946148" y="1930634"/>
                </a:lnTo>
                <a:lnTo>
                  <a:pt x="0" y="193063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333"/>
          </a:p>
        </p:txBody>
      </p:sp>
      <p:sp>
        <p:nvSpPr>
          <p:cNvPr id="6" name="Freeform 5"/>
          <p:cNvSpPr/>
          <p:nvPr/>
        </p:nvSpPr>
        <p:spPr bwMode="auto">
          <a:xfrm>
            <a:off x="8086824" y="2090532"/>
            <a:ext cx="2594864" cy="105757"/>
          </a:xfrm>
          <a:custGeom>
            <a:avLst/>
            <a:gdLst>
              <a:gd name="connsiteX0" fmla="*/ 0 w 1946148"/>
              <a:gd name="connsiteY0" fmla="*/ 0 h 455432"/>
              <a:gd name="connsiteX1" fmla="*/ 1946148 w 1946148"/>
              <a:gd name="connsiteY1" fmla="*/ 0 h 455432"/>
              <a:gd name="connsiteX2" fmla="*/ 1946148 w 1946148"/>
              <a:gd name="connsiteY2" fmla="*/ 455432 h 455432"/>
              <a:gd name="connsiteX3" fmla="*/ 0 w 1946148"/>
              <a:gd name="connsiteY3" fmla="*/ 455432 h 45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455432">
                <a:moveTo>
                  <a:pt x="0" y="0"/>
                </a:moveTo>
                <a:lnTo>
                  <a:pt x="1946148" y="0"/>
                </a:lnTo>
                <a:lnTo>
                  <a:pt x="1946148" y="455432"/>
                </a:lnTo>
                <a:lnTo>
                  <a:pt x="0" y="45543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1899184" y="2028179"/>
            <a:ext cx="2594864" cy="105757"/>
          </a:xfrm>
          <a:custGeom>
            <a:avLst/>
            <a:gdLst>
              <a:gd name="connsiteX0" fmla="*/ 0 w 1946148"/>
              <a:gd name="connsiteY0" fmla="*/ 0 h 455432"/>
              <a:gd name="connsiteX1" fmla="*/ 1946148 w 1946148"/>
              <a:gd name="connsiteY1" fmla="*/ 0 h 455432"/>
              <a:gd name="connsiteX2" fmla="*/ 1946148 w 1946148"/>
              <a:gd name="connsiteY2" fmla="*/ 455432 h 455432"/>
              <a:gd name="connsiteX3" fmla="*/ 0 w 1946148"/>
              <a:gd name="connsiteY3" fmla="*/ 455432 h 45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455432">
                <a:moveTo>
                  <a:pt x="0" y="0"/>
                </a:moveTo>
                <a:lnTo>
                  <a:pt x="1946148" y="0"/>
                </a:lnTo>
                <a:lnTo>
                  <a:pt x="1946148" y="455432"/>
                </a:lnTo>
                <a:lnTo>
                  <a:pt x="0" y="455432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4466067" y="1701800"/>
            <a:ext cx="3627155" cy="4817272"/>
          </a:xfrm>
          <a:custGeom>
            <a:avLst/>
            <a:gdLst>
              <a:gd name="connsiteX0" fmla="*/ 0 w 1946148"/>
              <a:gd name="connsiteY0" fmla="*/ 0 h 1930634"/>
              <a:gd name="connsiteX1" fmla="*/ 1946148 w 1946148"/>
              <a:gd name="connsiteY1" fmla="*/ 0 h 1930634"/>
              <a:gd name="connsiteX2" fmla="*/ 1946148 w 1946148"/>
              <a:gd name="connsiteY2" fmla="*/ 1930634 h 1930634"/>
              <a:gd name="connsiteX3" fmla="*/ 0 w 1946148"/>
              <a:gd name="connsiteY3" fmla="*/ 1930634 h 193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148" h="1930634">
                <a:moveTo>
                  <a:pt x="0" y="0"/>
                </a:moveTo>
                <a:lnTo>
                  <a:pt x="1946148" y="0"/>
                </a:lnTo>
                <a:lnTo>
                  <a:pt x="1946148" y="1930634"/>
                </a:lnTo>
                <a:lnTo>
                  <a:pt x="0" y="1930634"/>
                </a:ln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C407971-1727-4E65-B191-3903562EE414}"/>
              </a:ext>
            </a:extLst>
          </p:cNvPr>
          <p:cNvGrpSpPr/>
          <p:nvPr/>
        </p:nvGrpSpPr>
        <p:grpSpPr>
          <a:xfrm>
            <a:off x="8273300" y="3612206"/>
            <a:ext cx="2342660" cy="215957"/>
            <a:chOff x="8282720" y="3524917"/>
            <a:chExt cx="2342660" cy="215957"/>
          </a:xfrm>
        </p:grpSpPr>
        <p:sp>
          <p:nvSpPr>
            <p:cNvPr id="12" name="Rectangle 11"/>
            <p:cNvSpPr/>
            <p:nvPr/>
          </p:nvSpPr>
          <p:spPr>
            <a:xfrm>
              <a:off x="8556535" y="3524917"/>
              <a:ext cx="2068845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Tất cả tính năng của Tiêu chuẩn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8282720" y="3564749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C59C497-D2C5-4559-8586-09D2B0A81FDA}"/>
              </a:ext>
            </a:extLst>
          </p:cNvPr>
          <p:cNvGrpSpPr/>
          <p:nvPr/>
        </p:nvGrpSpPr>
        <p:grpSpPr>
          <a:xfrm>
            <a:off x="8273300" y="3934617"/>
            <a:ext cx="2153602" cy="215957"/>
            <a:chOff x="8282720" y="3800913"/>
            <a:chExt cx="2153602" cy="215957"/>
          </a:xfrm>
        </p:grpSpPr>
        <p:sp>
          <p:nvSpPr>
            <p:cNvPr id="13" name="Rectangle 12"/>
            <p:cNvSpPr/>
            <p:nvPr/>
          </p:nvSpPr>
          <p:spPr>
            <a:xfrm>
              <a:off x="8556535" y="3800913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lý trang và report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8282720" y="3840745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412E4D3-137B-4CFA-8EC9-8BDBF882C09B}"/>
              </a:ext>
            </a:extLst>
          </p:cNvPr>
          <p:cNvGrpSpPr/>
          <p:nvPr/>
        </p:nvGrpSpPr>
        <p:grpSpPr>
          <a:xfrm>
            <a:off x="8273300" y="4257027"/>
            <a:ext cx="2153602" cy="998036"/>
            <a:chOff x="8282720" y="4076908"/>
            <a:chExt cx="2153602" cy="998036"/>
          </a:xfrm>
        </p:grpSpPr>
        <p:sp>
          <p:nvSpPr>
            <p:cNvPr id="14" name="Rectangle 13"/>
            <p:cNvSpPr/>
            <p:nvPr/>
          </p:nvSpPr>
          <p:spPr>
            <a:xfrm>
              <a:off x="8556535" y="4076908"/>
              <a:ext cx="1879787" cy="70865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Đồng hành để phát triển tính năng chuyên sâu phù hợp nhu cầu doanh nghiệp.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8282720" y="4102847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8322122" y="4953283"/>
              <a:ext cx="121661" cy="121661"/>
            </a:xfrm>
            <a:custGeom>
              <a:avLst/>
              <a:gdLst>
                <a:gd name="connsiteX0" fmla="*/ 323290 w 355618"/>
                <a:gd name="connsiteY0" fmla="*/ 0 h 355619"/>
                <a:gd name="connsiteX1" fmla="*/ 355617 w 355618"/>
                <a:gd name="connsiteY1" fmla="*/ 32329 h 355619"/>
                <a:gd name="connsiteX2" fmla="*/ 210137 w 355618"/>
                <a:gd name="connsiteY2" fmla="*/ 177809 h 355619"/>
                <a:gd name="connsiteX3" fmla="*/ 355618 w 355618"/>
                <a:gd name="connsiteY3" fmla="*/ 323290 h 355619"/>
                <a:gd name="connsiteX4" fmla="*/ 323290 w 355618"/>
                <a:gd name="connsiteY4" fmla="*/ 355618 h 355619"/>
                <a:gd name="connsiteX5" fmla="*/ 177809 w 355618"/>
                <a:gd name="connsiteY5" fmla="*/ 210138 h 355619"/>
                <a:gd name="connsiteX6" fmla="*/ 32328 w 355618"/>
                <a:gd name="connsiteY6" fmla="*/ 355619 h 355619"/>
                <a:gd name="connsiteX7" fmla="*/ 0 w 355618"/>
                <a:gd name="connsiteY7" fmla="*/ 323291 h 355619"/>
                <a:gd name="connsiteX8" fmla="*/ 145480 w 355618"/>
                <a:gd name="connsiteY8" fmla="*/ 177809 h 355619"/>
                <a:gd name="connsiteX9" fmla="*/ 0 w 355618"/>
                <a:gd name="connsiteY9" fmla="*/ 32329 h 355619"/>
                <a:gd name="connsiteX10" fmla="*/ 32328 w 355618"/>
                <a:gd name="connsiteY10" fmla="*/ 1 h 355619"/>
                <a:gd name="connsiteX11" fmla="*/ 177809 w 355618"/>
                <a:gd name="connsiteY11" fmla="*/ 145481 h 35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5618" h="355619">
                  <a:moveTo>
                    <a:pt x="323290" y="0"/>
                  </a:moveTo>
                  <a:lnTo>
                    <a:pt x="355617" y="32329"/>
                  </a:lnTo>
                  <a:lnTo>
                    <a:pt x="210137" y="177809"/>
                  </a:lnTo>
                  <a:lnTo>
                    <a:pt x="355618" y="323290"/>
                  </a:lnTo>
                  <a:lnTo>
                    <a:pt x="323290" y="355618"/>
                  </a:lnTo>
                  <a:lnTo>
                    <a:pt x="177809" y="210138"/>
                  </a:lnTo>
                  <a:lnTo>
                    <a:pt x="32328" y="355619"/>
                  </a:lnTo>
                  <a:lnTo>
                    <a:pt x="0" y="323291"/>
                  </a:lnTo>
                  <a:lnTo>
                    <a:pt x="145480" y="177809"/>
                  </a:lnTo>
                  <a:lnTo>
                    <a:pt x="0" y="32329"/>
                  </a:lnTo>
                  <a:lnTo>
                    <a:pt x="32328" y="1"/>
                  </a:lnTo>
                  <a:lnTo>
                    <a:pt x="177809" y="14548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8739692" y="2305260"/>
            <a:ext cx="1289135" cy="37965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867" b="1">
                <a:solidFill>
                  <a:schemeClr val="accent3"/>
                </a:solidFill>
              </a:rPr>
              <a:t>CAO CẤP</a:t>
            </a:r>
            <a:endParaRPr lang="en-US" sz="1867" b="1" dirty="0">
              <a:solidFill>
                <a:schemeClr val="accent3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8235920" y="2565737"/>
            <a:ext cx="2463379" cy="666786"/>
            <a:chOff x="1730715" y="1965324"/>
            <a:chExt cx="1847534" cy="500090"/>
          </a:xfrm>
        </p:grpSpPr>
        <p:sp>
          <p:nvSpPr>
            <p:cNvPr id="65" name="Rectangle 64"/>
            <p:cNvSpPr/>
            <p:nvPr/>
          </p:nvSpPr>
          <p:spPr>
            <a:xfrm>
              <a:off x="1730715" y="1965324"/>
              <a:ext cx="1359460" cy="50009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3733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19.000</a:t>
              </a:r>
              <a:endParaRPr lang="en-US" sz="26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797897" y="2000259"/>
              <a:ext cx="780352" cy="31542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133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000đ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8295590" y="3432437"/>
            <a:ext cx="1863425" cy="1435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933" dirty="0">
                <a:solidFill>
                  <a:schemeClr val="bg1">
                    <a:lumMod val="65000"/>
                  </a:schemeClr>
                </a:solidFill>
              </a:rPr>
              <a:t>Per Month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1DFA04-3C5D-4155-AE6A-C2F15D393ADA}"/>
              </a:ext>
            </a:extLst>
          </p:cNvPr>
          <p:cNvGrpSpPr/>
          <p:nvPr/>
        </p:nvGrpSpPr>
        <p:grpSpPr>
          <a:xfrm>
            <a:off x="4674737" y="4003240"/>
            <a:ext cx="2590534" cy="323678"/>
            <a:chOff x="4935530" y="5043939"/>
            <a:chExt cx="2590534" cy="323678"/>
          </a:xfrm>
        </p:grpSpPr>
        <p:sp>
          <p:nvSpPr>
            <p:cNvPr id="32" name="Rectangle 31"/>
            <p:cNvSpPr/>
            <p:nvPr/>
          </p:nvSpPr>
          <p:spPr>
            <a:xfrm>
              <a:off x="5260399" y="5043939"/>
              <a:ext cx="2265665" cy="32367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Server riêng </a:t>
              </a: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(thay cho VPS)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Freeform 13"/>
            <p:cNvSpPr>
              <a:spLocks/>
            </p:cNvSpPr>
            <p:nvPr/>
          </p:nvSpPr>
          <p:spPr bwMode="auto">
            <a:xfrm>
              <a:off x="4935530" y="5135190"/>
              <a:ext cx="241615" cy="200748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344958" y="4703937"/>
            <a:ext cx="2155488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Bài test Non-realtime cho lớp online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344958" y="3875949"/>
            <a:ext cx="1879787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Tải tài liệu học tập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44958" y="4151944"/>
            <a:ext cx="1879787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Ký tên điểm danh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344958" y="4427940"/>
            <a:ext cx="2036362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Bài test Realtime cho lớp offline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344958" y="4979933"/>
            <a:ext cx="1879787" cy="215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67">
                <a:solidFill>
                  <a:schemeClr val="tx1">
                    <a:lumMod val="75000"/>
                    <a:lumOff val="25000"/>
                  </a:schemeClr>
                </a:solidFill>
              </a:rPr>
              <a:t>Xáo trộn thứ tự câu hỏi</a:t>
            </a:r>
            <a:endParaRPr lang="en-US" sz="10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F4BE8A-6CE2-473F-B309-BEE401C06A84}"/>
              </a:ext>
            </a:extLst>
          </p:cNvPr>
          <p:cNvGrpSpPr/>
          <p:nvPr/>
        </p:nvGrpSpPr>
        <p:grpSpPr>
          <a:xfrm>
            <a:off x="2071143" y="3599953"/>
            <a:ext cx="2153602" cy="215957"/>
            <a:chOff x="2252035" y="3348700"/>
            <a:chExt cx="2153602" cy="215957"/>
          </a:xfrm>
        </p:grpSpPr>
        <p:sp>
          <p:nvSpPr>
            <p:cNvPr id="41" name="Rectangle 40"/>
            <p:cNvSpPr/>
            <p:nvPr/>
          </p:nvSpPr>
          <p:spPr>
            <a:xfrm>
              <a:off x="2525850" y="3348700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Xuất QR Code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Freeform 13"/>
            <p:cNvSpPr>
              <a:spLocks/>
            </p:cNvSpPr>
            <p:nvPr/>
          </p:nvSpPr>
          <p:spPr bwMode="auto">
            <a:xfrm>
              <a:off x="2252035" y="338853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7" name="Freeform 13"/>
          <p:cNvSpPr>
            <a:spLocks/>
          </p:cNvSpPr>
          <p:nvPr/>
        </p:nvSpPr>
        <p:spPr bwMode="auto">
          <a:xfrm>
            <a:off x="2071143" y="3915781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8" name="Freeform 13"/>
          <p:cNvSpPr>
            <a:spLocks/>
          </p:cNvSpPr>
          <p:nvPr/>
        </p:nvSpPr>
        <p:spPr bwMode="auto">
          <a:xfrm>
            <a:off x="2071143" y="4177883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9" name="Freeform 13"/>
          <p:cNvSpPr>
            <a:spLocks/>
          </p:cNvSpPr>
          <p:nvPr/>
        </p:nvSpPr>
        <p:spPr bwMode="auto">
          <a:xfrm>
            <a:off x="2071143" y="4467773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0" name="Freeform 13"/>
          <p:cNvSpPr>
            <a:spLocks/>
          </p:cNvSpPr>
          <p:nvPr/>
        </p:nvSpPr>
        <p:spPr bwMode="auto">
          <a:xfrm>
            <a:off x="2071143" y="4743769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51" name="Freeform 50"/>
          <p:cNvSpPr/>
          <p:nvPr/>
        </p:nvSpPr>
        <p:spPr bwMode="auto">
          <a:xfrm>
            <a:off x="2110545" y="5028319"/>
            <a:ext cx="121661" cy="121661"/>
          </a:xfrm>
          <a:custGeom>
            <a:avLst/>
            <a:gdLst>
              <a:gd name="connsiteX0" fmla="*/ 323290 w 355618"/>
              <a:gd name="connsiteY0" fmla="*/ 0 h 355619"/>
              <a:gd name="connsiteX1" fmla="*/ 355617 w 355618"/>
              <a:gd name="connsiteY1" fmla="*/ 32329 h 355619"/>
              <a:gd name="connsiteX2" fmla="*/ 210137 w 355618"/>
              <a:gd name="connsiteY2" fmla="*/ 177809 h 355619"/>
              <a:gd name="connsiteX3" fmla="*/ 355618 w 355618"/>
              <a:gd name="connsiteY3" fmla="*/ 323290 h 355619"/>
              <a:gd name="connsiteX4" fmla="*/ 323290 w 355618"/>
              <a:gd name="connsiteY4" fmla="*/ 355618 h 355619"/>
              <a:gd name="connsiteX5" fmla="*/ 177809 w 355618"/>
              <a:gd name="connsiteY5" fmla="*/ 210138 h 355619"/>
              <a:gd name="connsiteX6" fmla="*/ 32328 w 355618"/>
              <a:gd name="connsiteY6" fmla="*/ 355619 h 355619"/>
              <a:gd name="connsiteX7" fmla="*/ 0 w 355618"/>
              <a:gd name="connsiteY7" fmla="*/ 323291 h 355619"/>
              <a:gd name="connsiteX8" fmla="*/ 145480 w 355618"/>
              <a:gd name="connsiteY8" fmla="*/ 177809 h 355619"/>
              <a:gd name="connsiteX9" fmla="*/ 0 w 355618"/>
              <a:gd name="connsiteY9" fmla="*/ 32329 h 355619"/>
              <a:gd name="connsiteX10" fmla="*/ 32328 w 355618"/>
              <a:gd name="connsiteY10" fmla="*/ 1 h 355619"/>
              <a:gd name="connsiteX11" fmla="*/ 177809 w 355618"/>
              <a:gd name="connsiteY11" fmla="*/ 145481 h 355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5618" h="355619">
                <a:moveTo>
                  <a:pt x="323290" y="0"/>
                </a:moveTo>
                <a:lnTo>
                  <a:pt x="355617" y="32329"/>
                </a:lnTo>
                <a:lnTo>
                  <a:pt x="210137" y="177809"/>
                </a:lnTo>
                <a:lnTo>
                  <a:pt x="355618" y="323290"/>
                </a:lnTo>
                <a:lnTo>
                  <a:pt x="323290" y="355618"/>
                </a:lnTo>
                <a:lnTo>
                  <a:pt x="177809" y="210138"/>
                </a:lnTo>
                <a:lnTo>
                  <a:pt x="32328" y="355619"/>
                </a:lnTo>
                <a:lnTo>
                  <a:pt x="0" y="323291"/>
                </a:lnTo>
                <a:lnTo>
                  <a:pt x="145480" y="177809"/>
                </a:lnTo>
                <a:lnTo>
                  <a:pt x="0" y="32329"/>
                </a:lnTo>
                <a:lnTo>
                  <a:pt x="32328" y="1"/>
                </a:lnTo>
                <a:lnTo>
                  <a:pt x="177809" y="14548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52" name="Rectangle 51"/>
          <p:cNvSpPr/>
          <p:nvPr/>
        </p:nvSpPr>
        <p:spPr>
          <a:xfrm>
            <a:off x="2623384" y="2242907"/>
            <a:ext cx="1146469" cy="37965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867" b="1">
                <a:solidFill>
                  <a:schemeClr val="accent1"/>
                </a:solidFill>
              </a:rPr>
              <a:t>CƠ BẢN</a:t>
            </a:r>
            <a:endParaRPr lang="en-US" sz="1867" b="1" dirty="0">
              <a:solidFill>
                <a:schemeClr val="accent1"/>
              </a:solidFill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2264112" y="2673496"/>
            <a:ext cx="1884018" cy="523220"/>
            <a:chOff x="1730716" y="2019162"/>
            <a:chExt cx="1413013" cy="392415"/>
          </a:xfrm>
        </p:grpSpPr>
        <p:sp>
          <p:nvSpPr>
            <p:cNvPr id="63" name="Rectangle 62"/>
            <p:cNvSpPr/>
            <p:nvPr/>
          </p:nvSpPr>
          <p:spPr>
            <a:xfrm>
              <a:off x="1730716" y="2019162"/>
              <a:ext cx="907112" cy="39241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3.900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363377" y="2019558"/>
              <a:ext cx="780352" cy="31542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133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000đ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5" name="Rectangle 54"/>
          <p:cNvSpPr/>
          <p:nvPr/>
        </p:nvSpPr>
        <p:spPr>
          <a:xfrm>
            <a:off x="2084013" y="3507473"/>
            <a:ext cx="1863425" cy="1435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933" dirty="0">
                <a:solidFill>
                  <a:schemeClr val="bg1">
                    <a:lumMod val="65000"/>
                  </a:schemeClr>
                </a:solidFill>
              </a:rPr>
              <a:t>Per 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62092" y="1920421"/>
            <a:ext cx="1867819" cy="42056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133" b="1">
                <a:solidFill>
                  <a:schemeClr val="accent2"/>
                </a:solidFill>
              </a:rPr>
              <a:t>TIÊU CHUẨN</a:t>
            </a:r>
            <a:endParaRPr lang="en-US" sz="2133" dirty="0">
              <a:solidFill>
                <a:schemeClr val="accent2"/>
              </a:solidFill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4772109" y="2245819"/>
            <a:ext cx="2703978" cy="830997"/>
            <a:chOff x="3542497" y="1796782"/>
            <a:chExt cx="2027983" cy="623248"/>
          </a:xfrm>
        </p:grpSpPr>
        <p:sp>
          <p:nvSpPr>
            <p:cNvPr id="61" name="Rectangle 60"/>
            <p:cNvSpPr/>
            <p:nvPr/>
          </p:nvSpPr>
          <p:spPr>
            <a:xfrm>
              <a:off x="3542497" y="1796782"/>
              <a:ext cx="1357024" cy="6232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48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9.900</a:t>
              </a:r>
              <a:endParaRPr lang="en-US" sz="3733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607282" y="1862764"/>
              <a:ext cx="963198" cy="3770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6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000đ</a:t>
              </a:r>
              <a:endPara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5164289" y="3124823"/>
            <a:ext cx="1863425" cy="18466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Per Month</a:t>
            </a:r>
          </a:p>
        </p:txBody>
      </p:sp>
      <p:sp>
        <p:nvSpPr>
          <p:cNvPr id="68" name="Freeform 13">
            <a:extLst>
              <a:ext uri="{FF2B5EF4-FFF2-40B4-BE49-F238E27FC236}">
                <a16:creationId xmlns:a16="http://schemas.microsoft.com/office/drawing/2014/main" id="{7594A034-7A19-40A9-9541-7B8E2B22263C}"/>
              </a:ext>
            </a:extLst>
          </p:cNvPr>
          <p:cNvSpPr>
            <a:spLocks/>
          </p:cNvSpPr>
          <p:nvPr/>
        </p:nvSpPr>
        <p:spPr bwMode="auto">
          <a:xfrm>
            <a:off x="2075710" y="5025306"/>
            <a:ext cx="200464" cy="166557"/>
          </a:xfrm>
          <a:custGeom>
            <a:avLst/>
            <a:gdLst/>
            <a:ahLst/>
            <a:cxnLst>
              <a:cxn ang="0">
                <a:pos x="320" y="0"/>
              </a:cxn>
              <a:cxn ang="0">
                <a:pos x="337" y="19"/>
              </a:cxn>
              <a:cxn ang="0">
                <a:pos x="123" y="280"/>
              </a:cxn>
              <a:cxn ang="0">
                <a:pos x="0" y="136"/>
              </a:cxn>
              <a:cxn ang="0">
                <a:pos x="20" y="114"/>
              </a:cxn>
              <a:cxn ang="0">
                <a:pos x="123" y="165"/>
              </a:cxn>
              <a:cxn ang="0">
                <a:pos x="320" y="0"/>
              </a:cxn>
            </a:cxnLst>
            <a:rect l="0" t="0" r="r" b="b"/>
            <a:pathLst>
              <a:path w="337" h="280">
                <a:moveTo>
                  <a:pt x="320" y="0"/>
                </a:moveTo>
                <a:lnTo>
                  <a:pt x="337" y="19"/>
                </a:lnTo>
                <a:lnTo>
                  <a:pt x="123" y="280"/>
                </a:lnTo>
                <a:lnTo>
                  <a:pt x="0" y="136"/>
                </a:lnTo>
                <a:lnTo>
                  <a:pt x="20" y="114"/>
                </a:lnTo>
                <a:lnTo>
                  <a:pt x="123" y="165"/>
                </a:lnTo>
                <a:lnTo>
                  <a:pt x="32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70" name="Freeform 50">
            <a:extLst>
              <a:ext uri="{FF2B5EF4-FFF2-40B4-BE49-F238E27FC236}">
                <a16:creationId xmlns:a16="http://schemas.microsoft.com/office/drawing/2014/main" id="{F9AFEF99-C129-4C65-81E9-D9A68C12A1E8}"/>
              </a:ext>
            </a:extLst>
          </p:cNvPr>
          <p:cNvSpPr/>
          <p:nvPr/>
        </p:nvSpPr>
        <p:spPr bwMode="auto">
          <a:xfrm>
            <a:off x="2116451" y="5281858"/>
            <a:ext cx="121661" cy="121661"/>
          </a:xfrm>
          <a:custGeom>
            <a:avLst/>
            <a:gdLst>
              <a:gd name="connsiteX0" fmla="*/ 323290 w 355618"/>
              <a:gd name="connsiteY0" fmla="*/ 0 h 355619"/>
              <a:gd name="connsiteX1" fmla="*/ 355617 w 355618"/>
              <a:gd name="connsiteY1" fmla="*/ 32329 h 355619"/>
              <a:gd name="connsiteX2" fmla="*/ 210137 w 355618"/>
              <a:gd name="connsiteY2" fmla="*/ 177809 h 355619"/>
              <a:gd name="connsiteX3" fmla="*/ 355618 w 355618"/>
              <a:gd name="connsiteY3" fmla="*/ 323290 h 355619"/>
              <a:gd name="connsiteX4" fmla="*/ 323290 w 355618"/>
              <a:gd name="connsiteY4" fmla="*/ 355618 h 355619"/>
              <a:gd name="connsiteX5" fmla="*/ 177809 w 355618"/>
              <a:gd name="connsiteY5" fmla="*/ 210138 h 355619"/>
              <a:gd name="connsiteX6" fmla="*/ 32328 w 355618"/>
              <a:gd name="connsiteY6" fmla="*/ 355619 h 355619"/>
              <a:gd name="connsiteX7" fmla="*/ 0 w 355618"/>
              <a:gd name="connsiteY7" fmla="*/ 323291 h 355619"/>
              <a:gd name="connsiteX8" fmla="*/ 145480 w 355618"/>
              <a:gd name="connsiteY8" fmla="*/ 177809 h 355619"/>
              <a:gd name="connsiteX9" fmla="*/ 0 w 355618"/>
              <a:gd name="connsiteY9" fmla="*/ 32329 h 355619"/>
              <a:gd name="connsiteX10" fmla="*/ 32328 w 355618"/>
              <a:gd name="connsiteY10" fmla="*/ 1 h 355619"/>
              <a:gd name="connsiteX11" fmla="*/ 177809 w 355618"/>
              <a:gd name="connsiteY11" fmla="*/ 145481 h 355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5618" h="355619">
                <a:moveTo>
                  <a:pt x="323290" y="0"/>
                </a:moveTo>
                <a:lnTo>
                  <a:pt x="355617" y="32329"/>
                </a:lnTo>
                <a:lnTo>
                  <a:pt x="210137" y="177809"/>
                </a:lnTo>
                <a:lnTo>
                  <a:pt x="355618" y="323290"/>
                </a:lnTo>
                <a:lnTo>
                  <a:pt x="323290" y="355618"/>
                </a:lnTo>
                <a:lnTo>
                  <a:pt x="177809" y="210138"/>
                </a:lnTo>
                <a:lnTo>
                  <a:pt x="32328" y="355619"/>
                </a:lnTo>
                <a:lnTo>
                  <a:pt x="0" y="323291"/>
                </a:lnTo>
                <a:lnTo>
                  <a:pt x="145480" y="177809"/>
                </a:lnTo>
                <a:lnTo>
                  <a:pt x="0" y="32329"/>
                </a:lnTo>
                <a:lnTo>
                  <a:pt x="32328" y="1"/>
                </a:lnTo>
                <a:lnTo>
                  <a:pt x="177809" y="14548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8350A62-9FB0-4FE1-8B68-8035E5CDAB7C}"/>
              </a:ext>
            </a:extLst>
          </p:cNvPr>
          <p:cNvGrpSpPr/>
          <p:nvPr/>
        </p:nvGrpSpPr>
        <p:grpSpPr>
          <a:xfrm>
            <a:off x="2081616" y="5233472"/>
            <a:ext cx="2149035" cy="215957"/>
            <a:chOff x="2262508" y="5259119"/>
            <a:chExt cx="2149035" cy="215957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C03EDB5-8AC9-47BF-B0CE-BED5CAA925BF}"/>
                </a:ext>
              </a:extLst>
            </p:cNvPr>
            <p:cNvSpPr/>
            <p:nvPr/>
          </p:nvSpPr>
          <p:spPr>
            <a:xfrm>
              <a:off x="2531756" y="5259119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Trang report cơ bản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13">
              <a:extLst>
                <a:ext uri="{FF2B5EF4-FFF2-40B4-BE49-F238E27FC236}">
                  <a16:creationId xmlns:a16="http://schemas.microsoft.com/office/drawing/2014/main" id="{CFB28E3D-3EA1-484E-87DE-E1D0F2A45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0449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A197FE9-E483-4259-AD9E-913B47C1693C}"/>
              </a:ext>
            </a:extLst>
          </p:cNvPr>
          <p:cNvGrpSpPr/>
          <p:nvPr/>
        </p:nvGrpSpPr>
        <p:grpSpPr>
          <a:xfrm>
            <a:off x="2070731" y="3303949"/>
            <a:ext cx="2153602" cy="215957"/>
            <a:chOff x="2252035" y="3348700"/>
            <a:chExt cx="2153602" cy="215957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D78BF27-D1D4-45FD-BC77-880FF9B2EC3A}"/>
                </a:ext>
              </a:extLst>
            </p:cNvPr>
            <p:cNvSpPr/>
            <p:nvPr/>
          </p:nvSpPr>
          <p:spPr>
            <a:xfrm>
              <a:off x="2525850" y="3348700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1-200 user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DACBC4ED-70FE-496D-B63B-FBD1AC429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035" y="338853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979E476-15F1-448B-BC5D-2AB0A76B2D94}"/>
              </a:ext>
            </a:extLst>
          </p:cNvPr>
          <p:cNvGrpSpPr/>
          <p:nvPr/>
        </p:nvGrpSpPr>
        <p:grpSpPr>
          <a:xfrm>
            <a:off x="4652533" y="3185090"/>
            <a:ext cx="2595688" cy="323678"/>
            <a:chOff x="4930376" y="3380682"/>
            <a:chExt cx="2595688" cy="323678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EB46F8-F21D-401A-9B2C-33F3BDCE6A4C}"/>
                </a:ext>
              </a:extLst>
            </p:cNvPr>
            <p:cNvSpPr/>
            <p:nvPr/>
          </p:nvSpPr>
          <p:spPr>
            <a:xfrm>
              <a:off x="5260399" y="3380682"/>
              <a:ext cx="2265665" cy="32367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201 – 500 User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Freeform 13">
              <a:extLst>
                <a:ext uri="{FF2B5EF4-FFF2-40B4-BE49-F238E27FC236}">
                  <a16:creationId xmlns:a16="http://schemas.microsoft.com/office/drawing/2014/main" id="{025E59C7-411D-464E-9D50-001A19676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0376" y="3428691"/>
              <a:ext cx="241615" cy="200748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F56C8D1-8D85-4925-9034-30004A3FAFF1}"/>
              </a:ext>
            </a:extLst>
          </p:cNvPr>
          <p:cNvGrpSpPr/>
          <p:nvPr/>
        </p:nvGrpSpPr>
        <p:grpSpPr>
          <a:xfrm>
            <a:off x="8282720" y="3289795"/>
            <a:ext cx="2153602" cy="215957"/>
            <a:chOff x="8050803" y="3113578"/>
            <a:chExt cx="2153602" cy="215957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B943022-F1A0-4C02-8863-2E294410AAE9}"/>
                </a:ext>
              </a:extLst>
            </p:cNvPr>
            <p:cNvSpPr/>
            <p:nvPr/>
          </p:nvSpPr>
          <p:spPr>
            <a:xfrm>
              <a:off x="8324618" y="3113578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501 – 1000 user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7C194B1D-13BE-416D-B9F4-308909EBF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0803" y="3153410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DD52F59-C1FA-4058-9409-CD9396C07DF0}"/>
              </a:ext>
            </a:extLst>
          </p:cNvPr>
          <p:cNvGrpSpPr/>
          <p:nvPr/>
        </p:nvGrpSpPr>
        <p:grpSpPr>
          <a:xfrm>
            <a:off x="2081616" y="5514769"/>
            <a:ext cx="2321573" cy="215957"/>
            <a:chOff x="2262508" y="5259119"/>
            <a:chExt cx="2321573" cy="215957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6409043-5B91-49F1-82CD-8F62C3B9C9BB}"/>
                </a:ext>
              </a:extLst>
            </p:cNvPr>
            <p:cNvSpPr/>
            <p:nvPr/>
          </p:nvSpPr>
          <p:spPr>
            <a:xfrm>
              <a:off x="2531756" y="5259119"/>
              <a:ext cx="2052325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VPS riêng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Freeform 13">
              <a:extLst>
                <a:ext uri="{FF2B5EF4-FFF2-40B4-BE49-F238E27FC236}">
                  <a16:creationId xmlns:a16="http://schemas.microsoft.com/office/drawing/2014/main" id="{D3CABCAC-C80C-4861-A0C4-960C4F1BA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0449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32E889D-4C10-4BE5-B1D8-9AD43A1A4E30}"/>
              </a:ext>
            </a:extLst>
          </p:cNvPr>
          <p:cNvGrpSpPr/>
          <p:nvPr/>
        </p:nvGrpSpPr>
        <p:grpSpPr>
          <a:xfrm>
            <a:off x="4667270" y="3580125"/>
            <a:ext cx="3221402" cy="323678"/>
            <a:chOff x="4914728" y="3382568"/>
            <a:chExt cx="3221402" cy="323678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C47687F-C554-4339-B3B7-433C9287E1EF}"/>
                </a:ext>
              </a:extLst>
            </p:cNvPr>
            <p:cNvSpPr/>
            <p:nvPr/>
          </p:nvSpPr>
          <p:spPr>
            <a:xfrm>
              <a:off x="5225471" y="3382568"/>
              <a:ext cx="2910659" cy="32367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Có tất cả tính năng của Cơ Bản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45E14BCD-DAE7-4FFF-92B0-B0001031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728" y="3439664"/>
              <a:ext cx="241615" cy="200748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568020C-AFA6-4CCF-8801-48F867F2F371}"/>
              </a:ext>
            </a:extLst>
          </p:cNvPr>
          <p:cNvGrpSpPr/>
          <p:nvPr/>
        </p:nvGrpSpPr>
        <p:grpSpPr>
          <a:xfrm>
            <a:off x="4674126" y="4426355"/>
            <a:ext cx="2591145" cy="323678"/>
            <a:chOff x="2262508" y="5240894"/>
            <a:chExt cx="2591145" cy="323678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064E3B5-470C-49A0-AED9-6AC7A8DCF443}"/>
                </a:ext>
              </a:extLst>
            </p:cNvPr>
            <p:cNvSpPr/>
            <p:nvPr/>
          </p:nvSpPr>
          <p:spPr>
            <a:xfrm>
              <a:off x="2608288" y="5240894"/>
              <a:ext cx="2245365" cy="32367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Miễn phí 01 tên miền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6" name="Freeform 13">
              <a:extLst>
                <a:ext uri="{FF2B5EF4-FFF2-40B4-BE49-F238E27FC236}">
                  <a16:creationId xmlns:a16="http://schemas.microsoft.com/office/drawing/2014/main" id="{D70CBE55-83BE-418A-BA58-E8388C22D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31802"/>
              <a:ext cx="261033" cy="216881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1A76F1C-9420-40C2-AEBB-64D6CD0596ED}"/>
              </a:ext>
            </a:extLst>
          </p:cNvPr>
          <p:cNvGrpSpPr/>
          <p:nvPr/>
        </p:nvGrpSpPr>
        <p:grpSpPr>
          <a:xfrm>
            <a:off x="4679815" y="4864932"/>
            <a:ext cx="2940644" cy="693010"/>
            <a:chOff x="2262508" y="5240894"/>
            <a:chExt cx="2940644" cy="69301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2AC2817-883D-4923-99C5-A0EF6A101A8C}"/>
                </a:ext>
              </a:extLst>
            </p:cNvPr>
            <p:cNvSpPr/>
            <p:nvPr/>
          </p:nvSpPr>
          <p:spPr>
            <a:xfrm>
              <a:off x="2608288" y="5240894"/>
              <a:ext cx="2594864" cy="69301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Hỗ trợ đăng ký tin nhắn Brandname theo tên miền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9" name="Freeform 13">
              <a:extLst>
                <a:ext uri="{FF2B5EF4-FFF2-40B4-BE49-F238E27FC236}">
                  <a16:creationId xmlns:a16="http://schemas.microsoft.com/office/drawing/2014/main" id="{8B772C48-CC33-4E81-8EF4-FDD71BB8E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31802"/>
              <a:ext cx="261033" cy="216881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2A40C18-64CC-44F7-91CE-0921D40418DF}"/>
              </a:ext>
            </a:extLst>
          </p:cNvPr>
          <p:cNvGrpSpPr/>
          <p:nvPr/>
        </p:nvGrpSpPr>
        <p:grpSpPr>
          <a:xfrm>
            <a:off x="2086722" y="5771505"/>
            <a:ext cx="2149035" cy="215957"/>
            <a:chOff x="2262508" y="5259119"/>
            <a:chExt cx="2149035" cy="215957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FB35C79-AB63-49FF-9852-F2ECD853B2C6}"/>
                </a:ext>
              </a:extLst>
            </p:cNvPr>
            <p:cNvSpPr/>
            <p:nvPr/>
          </p:nvSpPr>
          <p:spPr>
            <a:xfrm>
              <a:off x="2531756" y="5259119"/>
              <a:ext cx="1879787" cy="2159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67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Hỗ trợ kỹ thuật 24/7</a:t>
              </a:r>
              <a:endParaRPr lang="en-US" sz="1067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5" name="Freeform 13">
              <a:extLst>
                <a:ext uri="{FF2B5EF4-FFF2-40B4-BE49-F238E27FC236}">
                  <a16:creationId xmlns:a16="http://schemas.microsoft.com/office/drawing/2014/main" id="{A6FDA1CE-9F79-45B6-8836-585D6EB55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04492"/>
              <a:ext cx="200464" cy="166557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9C5571B-7F4F-4FA7-BFD8-DFC61C4C0028}"/>
              </a:ext>
            </a:extLst>
          </p:cNvPr>
          <p:cNvSpPr txBox="1"/>
          <p:nvPr/>
        </p:nvSpPr>
        <p:spPr>
          <a:xfrm>
            <a:off x="8788260" y="6427370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*Thanh toán 01 năm giảm 10%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1E415BA-9D0B-4D08-BD68-07C1D9F70227}"/>
              </a:ext>
            </a:extLst>
          </p:cNvPr>
          <p:cNvGrpSpPr/>
          <p:nvPr/>
        </p:nvGrpSpPr>
        <p:grpSpPr>
          <a:xfrm>
            <a:off x="4652533" y="5631497"/>
            <a:ext cx="3470374" cy="693010"/>
            <a:chOff x="2262508" y="5240894"/>
            <a:chExt cx="3470374" cy="69301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F068964-9D27-4D7D-BD3B-7AC7A370917B}"/>
                </a:ext>
              </a:extLst>
            </p:cNvPr>
            <p:cNvSpPr/>
            <p:nvPr/>
          </p:nvSpPr>
          <p:spPr>
            <a:xfrm>
              <a:off x="2608287" y="5240894"/>
              <a:ext cx="3124595" cy="69301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Tự động cập nhật tính năng mới hàng quý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CB2B94EC-0771-469D-8327-F497326EB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08" y="5331802"/>
              <a:ext cx="261033" cy="216881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337" y="19"/>
                </a:cxn>
                <a:cxn ang="0">
                  <a:pos x="123" y="280"/>
                </a:cxn>
                <a:cxn ang="0">
                  <a:pos x="0" y="136"/>
                </a:cxn>
                <a:cxn ang="0">
                  <a:pos x="20" y="114"/>
                </a:cxn>
                <a:cxn ang="0">
                  <a:pos x="123" y="165"/>
                </a:cxn>
                <a:cxn ang="0">
                  <a:pos x="320" y="0"/>
                </a:cxn>
              </a:cxnLst>
              <a:rect l="0" t="0" r="r" b="b"/>
              <a:pathLst>
                <a:path w="337" h="280">
                  <a:moveTo>
                    <a:pt x="320" y="0"/>
                  </a:moveTo>
                  <a:lnTo>
                    <a:pt x="337" y="19"/>
                  </a:lnTo>
                  <a:lnTo>
                    <a:pt x="123" y="280"/>
                  </a:lnTo>
                  <a:lnTo>
                    <a:pt x="0" y="136"/>
                  </a:lnTo>
                  <a:lnTo>
                    <a:pt x="20" y="114"/>
                  </a:lnTo>
                  <a:lnTo>
                    <a:pt x="123" y="165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</p:grpSp>
    </p:spTree>
    <p:extLst>
      <p:ext uri="{BB962C8B-B14F-4D97-AF65-F5344CB8AC3E}">
        <p14:creationId xmlns:p14="http://schemas.microsoft.com/office/powerpoint/2010/main" val="2551572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297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DỰ TRÙ KINH PHÍ – MUA TRỌN GÓI</vt:lpstr>
      <vt:lpstr>DỰ TRÙ KINH PHÍ – THUÊ BAO HÀNG THÁNG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Tran</dc:creator>
  <cp:lastModifiedBy>Minh Tran</cp:lastModifiedBy>
  <cp:revision>4</cp:revision>
  <dcterms:created xsi:type="dcterms:W3CDTF">2021-03-16T17:10:58Z</dcterms:created>
  <dcterms:modified xsi:type="dcterms:W3CDTF">2021-03-17T06:33:05Z</dcterms:modified>
</cp:coreProperties>
</file>