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3" r:id="rId5"/>
    <p:sldId id="267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571"/>
    <a:srgbClr val="2D6D7D"/>
    <a:srgbClr val="0E3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4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5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2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2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9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3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4017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82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46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96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3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6E08F2-7988-438E-809F-4DAFF1106E3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9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800" y="4464028"/>
            <a:ext cx="9144000" cy="164149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rPr>
              <a:t>ỨNG DỤNG WEB TEST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rPr>
              <a:t>REALTIME &amp; NON-REALTIME</a:t>
            </a:r>
          </a:p>
        </p:txBody>
      </p:sp>
      <p:pic>
        <p:nvPicPr>
          <p:cNvPr id="1028" name="Picture 4" descr="HOW TO DESIGN LOW-POWER IoT APPLICATIONS - Altair Semiconductor">
            <a:extLst>
              <a:ext uri="{FF2B5EF4-FFF2-40B4-BE49-F238E27FC236}">
                <a16:creationId xmlns:a16="http://schemas.microsoft.com/office/drawing/2014/main" id="{F8D6A9E5-5670-462D-8EBC-A015D2BB2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r="4866"/>
          <a:stretch/>
        </p:blipFill>
        <p:spPr bwMode="auto">
          <a:xfrm>
            <a:off x="20" y="10"/>
            <a:ext cx="12191980" cy="344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8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1. TẠI SAO?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49" y="2001424"/>
            <a:ext cx="11964838" cy="281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nhân viên </a:t>
            </a:r>
            <a:r>
              <a:rPr lang="en-US" sz="2300" b="1">
                <a:solidFill>
                  <a:srgbClr val="FFFF00"/>
                </a:solidFill>
              </a:rPr>
              <a:t>nắm vững kiến thức </a:t>
            </a:r>
            <a:r>
              <a:rPr lang="en-US" sz="2300"/>
              <a:t>để bán hàng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nhân viên lại </a:t>
            </a:r>
            <a:r>
              <a:rPr lang="en-US" sz="2300" b="1"/>
              <a:t>“</a:t>
            </a:r>
            <a:r>
              <a:rPr lang="en-US" sz="2300" b="1">
                <a:solidFill>
                  <a:srgbClr val="FFFF00"/>
                </a:solidFill>
              </a:rPr>
              <a:t>l</a:t>
            </a:r>
            <a:r>
              <a:rPr lang="vi-VN" sz="2300" b="1">
                <a:solidFill>
                  <a:srgbClr val="FFFF00"/>
                </a:solidFill>
              </a:rPr>
              <a:t>ườ</a:t>
            </a:r>
            <a:r>
              <a:rPr lang="en-US" sz="2300" b="1">
                <a:solidFill>
                  <a:srgbClr val="FFFF00"/>
                </a:solidFill>
              </a:rPr>
              <a:t>i” học</a:t>
            </a:r>
            <a:r>
              <a:rPr lang="en-US" sz="2300"/>
              <a:t>.</a:t>
            </a:r>
            <a:endParaRPr lang="en-US" sz="2300" b="1">
              <a:solidFill>
                <a:srgbClr val="FFFF00"/>
              </a:solidFill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</a:t>
            </a:r>
            <a:r>
              <a:rPr lang="en-US" sz="2300" b="1">
                <a:solidFill>
                  <a:srgbClr val="FFFF00"/>
                </a:solidFill>
              </a:rPr>
              <a:t>đánh giá kiến thức </a:t>
            </a:r>
            <a:r>
              <a:rPr lang="en-US" sz="2300"/>
              <a:t>của nhân viên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cách làm bài test </a:t>
            </a:r>
            <a:r>
              <a:rPr lang="en-US" sz="2300" b="1">
                <a:solidFill>
                  <a:srgbClr val="FFFF00"/>
                </a:solidFill>
              </a:rPr>
              <a:t>ch</a:t>
            </a:r>
            <a:r>
              <a:rPr lang="vi-VN" sz="2300" b="1">
                <a:solidFill>
                  <a:srgbClr val="FFFF00"/>
                </a:solidFill>
              </a:rPr>
              <a:t>ư</a:t>
            </a:r>
            <a:r>
              <a:rPr lang="en-US" sz="2300" b="1">
                <a:solidFill>
                  <a:srgbClr val="FFFF00"/>
                </a:solidFill>
              </a:rPr>
              <a:t>a hiệu quả</a:t>
            </a:r>
            <a:r>
              <a:rPr lang="en-US" sz="23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</a:t>
            </a:r>
            <a:r>
              <a:rPr lang="en-US" sz="2300" b="1">
                <a:solidFill>
                  <a:srgbClr val="FFFF00"/>
                </a:solidFill>
              </a:rPr>
              <a:t>thu hút sự chú ý </a:t>
            </a:r>
            <a:r>
              <a:rPr lang="en-US" sz="2300"/>
              <a:t>của nhân viên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cách làm bài test cũ </a:t>
            </a:r>
            <a:r>
              <a:rPr lang="en-US" sz="2300" b="1">
                <a:solidFill>
                  <a:srgbClr val="FFFF00"/>
                </a:solidFill>
              </a:rPr>
              <a:t>thiếu cạnh tranh</a:t>
            </a:r>
            <a:r>
              <a:rPr lang="en-US" sz="23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bảng </a:t>
            </a:r>
            <a:r>
              <a:rPr lang="en-US" sz="2300" b="1">
                <a:solidFill>
                  <a:srgbClr val="FFFF00"/>
                </a:solidFill>
              </a:rPr>
              <a:t>báo cáo rõ ràng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</a:t>
            </a:r>
            <a:r>
              <a:rPr lang="en-US" sz="2300" b="1">
                <a:solidFill>
                  <a:srgbClr val="FFFF00"/>
                </a:solidFill>
              </a:rPr>
              <a:t>khó thu thập dữ liệu</a:t>
            </a:r>
            <a:r>
              <a:rPr lang="en-US" sz="2300"/>
              <a:t> và tốn nhiều thời gian.</a:t>
            </a:r>
          </a:p>
        </p:txBody>
      </p:sp>
    </p:spTree>
    <p:extLst>
      <p:ext uri="{BB962C8B-B14F-4D97-AF65-F5344CB8AC3E}">
        <p14:creationId xmlns:p14="http://schemas.microsoft.com/office/powerpoint/2010/main" val="197487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2. HƯỚNG XỬ LÝ?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2C98580-282B-42D9-B7EA-70D7C70203B3}"/>
              </a:ext>
            </a:extLst>
          </p:cNvPr>
          <p:cNvGrpSpPr/>
          <p:nvPr/>
        </p:nvGrpSpPr>
        <p:grpSpPr>
          <a:xfrm>
            <a:off x="590432" y="1222263"/>
            <a:ext cx="10982031" cy="1831481"/>
            <a:chOff x="647832" y="1023856"/>
            <a:chExt cx="10982031" cy="1831481"/>
          </a:xfrm>
        </p:grpSpPr>
        <p:sp>
          <p:nvSpPr>
            <p:cNvPr id="3" name="Rectangle 2"/>
            <p:cNvSpPr/>
            <p:nvPr/>
          </p:nvSpPr>
          <p:spPr>
            <a:xfrm>
              <a:off x="647832" y="1553358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L</a:t>
              </a:r>
              <a:r>
                <a:rPr lang="vi-VN">
                  <a:solidFill>
                    <a:srgbClr val="FFFF00"/>
                  </a:solidFill>
                </a:rPr>
                <a:t>ườ</a:t>
              </a:r>
              <a:r>
                <a:rPr lang="en-US">
                  <a:solidFill>
                    <a:srgbClr val="FFFF00"/>
                  </a:solidFill>
                </a:rPr>
                <a:t>i học</a:t>
              </a:r>
            </a:p>
          </p:txBody>
        </p:sp>
        <p:cxnSp>
          <p:nvCxnSpPr>
            <p:cNvPr id="7" name="Straight Arrow Connector 6"/>
            <p:cNvCxnSpPr>
              <a:cxnSpLocks/>
            </p:cNvCxnSpPr>
            <p:nvPr/>
          </p:nvCxnSpPr>
          <p:spPr>
            <a:xfrm>
              <a:off x="4530804" y="1856942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5805052" y="1023856"/>
              <a:ext cx="5824811" cy="18314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</a:t>
              </a:r>
              <a:r>
                <a:rPr lang="en-US">
                  <a:solidFill>
                    <a:srgbClr val="FFFF00"/>
                  </a:solidFill>
                </a:rPr>
                <a:t>Tạo môi tr</a:t>
              </a:r>
              <a:r>
                <a:rPr lang="vi-VN">
                  <a:solidFill>
                    <a:srgbClr val="FFFF00"/>
                  </a:solidFill>
                </a:rPr>
                <a:t>ường</a:t>
              </a:r>
              <a:r>
                <a:rPr lang="en-US">
                  <a:solidFill>
                    <a:srgbClr val="FFFF00"/>
                  </a:solidFill>
                </a:rPr>
                <a:t> </a:t>
              </a:r>
              <a:r>
                <a:rPr lang="en-US">
                  <a:solidFill>
                    <a:schemeClr val="tx1"/>
                  </a:solidFill>
                </a:rPr>
                <a:t>để nhân viên </a:t>
              </a:r>
              <a:r>
                <a:rPr lang="en-US">
                  <a:solidFill>
                    <a:srgbClr val="FFFF00"/>
                  </a:solidFill>
                </a:rPr>
                <a:t>chủ động </a:t>
              </a:r>
              <a:r>
                <a:rPr lang="en-US">
                  <a:solidFill>
                    <a:schemeClr val="tx1"/>
                  </a:solidFill>
                </a:rPr>
                <a:t>tìm kiến thức.</a:t>
              </a:r>
            </a:p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Không ép đầu vào nhưng </a:t>
              </a:r>
              <a:r>
                <a:rPr lang="en-US">
                  <a:solidFill>
                    <a:srgbClr val="FFFF00"/>
                  </a:solidFill>
                </a:rPr>
                <a:t>ép kết quả làm bài test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Thêm </a:t>
              </a:r>
              <a:r>
                <a:rPr lang="en-US">
                  <a:solidFill>
                    <a:srgbClr val="FFFF00"/>
                  </a:solidFill>
                </a:rPr>
                <a:t>KPI điểm test </a:t>
              </a:r>
              <a:r>
                <a:rPr lang="en-US">
                  <a:solidFill>
                    <a:schemeClr val="tx1"/>
                  </a:solidFill>
                </a:rPr>
                <a:t>kiến thức hàng tháng vào lương. - Nếu xây dựng hệ thống thì phải dễ dàng truy cập.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AE8BDF-28E1-424D-A766-5D3728252D31}"/>
              </a:ext>
            </a:extLst>
          </p:cNvPr>
          <p:cNvGrpSpPr/>
          <p:nvPr/>
        </p:nvGrpSpPr>
        <p:grpSpPr>
          <a:xfrm>
            <a:off x="590433" y="3116539"/>
            <a:ext cx="10982031" cy="1378645"/>
            <a:chOff x="647832" y="3019229"/>
            <a:chExt cx="10982031" cy="1378645"/>
          </a:xfrm>
        </p:grpSpPr>
        <p:sp>
          <p:nvSpPr>
            <p:cNvPr id="11" name="Rectangle 10"/>
            <p:cNvSpPr/>
            <p:nvPr/>
          </p:nvSpPr>
          <p:spPr>
            <a:xfrm>
              <a:off x="647832" y="3406043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Cách test ch</a:t>
              </a:r>
              <a:r>
                <a:rPr lang="vi-VN">
                  <a:solidFill>
                    <a:srgbClr val="FFFF00"/>
                  </a:solidFill>
                </a:rPr>
                <a:t>ư</a:t>
              </a:r>
              <a:r>
                <a:rPr lang="en-US">
                  <a:solidFill>
                    <a:srgbClr val="FFFF00"/>
                  </a:solidFill>
                </a:rPr>
                <a:t>a hiệu quả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805052" y="3019229"/>
              <a:ext cx="5824811" cy="13786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Thay vì sử dụng google form, cần hệ thống: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chemeClr val="tx1"/>
                  </a:solidFill>
                </a:rPr>
                <a:t>Cho phép </a:t>
              </a:r>
              <a:r>
                <a:rPr lang="en-US">
                  <a:solidFill>
                    <a:srgbClr val="FFFF00"/>
                  </a:solidFill>
                </a:rPr>
                <a:t>giới hạn thời gian làm bài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rgbClr val="FFFF00"/>
                  </a:solidFill>
                </a:rPr>
                <a:t>Xáo trộn </a:t>
              </a:r>
              <a:r>
                <a:rPr lang="en-US">
                  <a:solidFill>
                    <a:schemeClr val="tx1"/>
                  </a:solidFill>
                </a:rPr>
                <a:t>thứ tự câu hỏi 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18DA94C-772D-4425-874E-B50D80FD617B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3674388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08D662-E8D1-4AA0-85BC-22C513ACB366}"/>
              </a:ext>
            </a:extLst>
          </p:cNvPr>
          <p:cNvGrpSpPr/>
          <p:nvPr/>
        </p:nvGrpSpPr>
        <p:grpSpPr>
          <a:xfrm>
            <a:off x="590433" y="4571070"/>
            <a:ext cx="10982031" cy="923730"/>
            <a:chOff x="647831" y="4663874"/>
            <a:chExt cx="10982031" cy="92373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E42DF6-6EED-4F4E-BBDC-CAFBB808CE52}"/>
                </a:ext>
              </a:extLst>
            </p:cNvPr>
            <p:cNvSpPr/>
            <p:nvPr/>
          </p:nvSpPr>
          <p:spPr>
            <a:xfrm>
              <a:off x="647831" y="4853356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Thiếu cạnh tranh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B4AA63-EC14-493A-8354-E084ECE09079}"/>
                </a:ext>
              </a:extLst>
            </p:cNvPr>
            <p:cNvSpPr/>
            <p:nvPr/>
          </p:nvSpPr>
          <p:spPr>
            <a:xfrm>
              <a:off x="5805052" y="4663874"/>
              <a:ext cx="5824810" cy="9237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chemeClr val="tx1"/>
                  </a:solidFill>
                </a:rPr>
                <a:t>Cạnh tranh </a:t>
              </a:r>
              <a:r>
                <a:rPr lang="en-US">
                  <a:solidFill>
                    <a:srgbClr val="FFFF00"/>
                  </a:solidFill>
                </a:rPr>
                <a:t>tốc độ </a:t>
              </a:r>
              <a:r>
                <a:rPr lang="en-US">
                  <a:solidFill>
                    <a:schemeClr val="tx1"/>
                  </a:solidFill>
                </a:rPr>
                <a:t>làm bài </a:t>
              </a:r>
              <a:r>
                <a:rPr lang="en-US">
                  <a:solidFill>
                    <a:srgbClr val="FFFF00"/>
                  </a:solidFill>
                </a:rPr>
                <a:t>và thứ hạng điểm </a:t>
              </a:r>
              <a:r>
                <a:rPr lang="en-US">
                  <a:solidFill>
                    <a:schemeClr val="tx1"/>
                  </a:solidFill>
                </a:rPr>
                <a:t>bài test 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rgbClr val="FFFF00"/>
                  </a:solidFill>
                </a:rPr>
                <a:t>Phần thưởng </a:t>
              </a:r>
              <a:r>
                <a:rPr lang="en-US">
                  <a:solidFill>
                    <a:schemeClr val="tx1"/>
                  </a:solidFill>
                </a:rPr>
                <a:t>cho </a:t>
              </a:r>
              <a:r>
                <a:rPr lang="en-US">
                  <a:solidFill>
                    <a:srgbClr val="FFFF00"/>
                  </a:solidFill>
                </a:rPr>
                <a:t>top đầu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9299C9C-0835-4531-8C73-9448B5001CDB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5114613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6B4259-E67D-41EB-97A3-826280F26112}"/>
              </a:ext>
            </a:extLst>
          </p:cNvPr>
          <p:cNvGrpSpPr/>
          <p:nvPr/>
        </p:nvGrpSpPr>
        <p:grpSpPr>
          <a:xfrm>
            <a:off x="619536" y="5570686"/>
            <a:ext cx="10952927" cy="923730"/>
            <a:chOff x="676935" y="5836435"/>
            <a:chExt cx="10952927" cy="923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CEB59E-3E86-4550-8A3E-0ACD04435292}"/>
                </a:ext>
              </a:extLst>
            </p:cNvPr>
            <p:cNvSpPr/>
            <p:nvPr/>
          </p:nvSpPr>
          <p:spPr>
            <a:xfrm>
              <a:off x="676935" y="6037043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Khó thu thập dữ liệu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C121EF-40EF-4AE2-9221-A82C4C9DC5A0}"/>
                </a:ext>
              </a:extLst>
            </p:cNvPr>
            <p:cNvSpPr/>
            <p:nvPr/>
          </p:nvSpPr>
          <p:spPr>
            <a:xfrm>
              <a:off x="5805052" y="5836435"/>
              <a:ext cx="5824810" cy="9237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Hệ thống được custom riêng để có được </a:t>
              </a:r>
              <a:r>
                <a:rPr lang="en-US">
                  <a:solidFill>
                    <a:srgbClr val="FFFF00"/>
                  </a:solidFill>
                </a:rPr>
                <a:t>report phù hợp</a:t>
              </a:r>
              <a:r>
                <a:rPr lang="en-US">
                  <a:solidFill>
                    <a:schemeClr val="tx1"/>
                  </a:solidFill>
                </a:rPr>
                <a:t> nhu cầu, </a:t>
              </a:r>
              <a:r>
                <a:rPr lang="en-US">
                  <a:solidFill>
                    <a:srgbClr val="FFFF00"/>
                  </a:solidFill>
                </a:rPr>
                <a:t>hạn chế tối đa thao tác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286499-3728-4322-9802-7255956DAE4E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6282442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9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3.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757" y="2077374"/>
            <a:ext cx="11104485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/>
              <a:t>HỆ THỐNG WEBSITE LÀM BÀI TEST </a:t>
            </a:r>
            <a:r>
              <a:rPr lang="en-US" sz="2800" b="1">
                <a:solidFill>
                  <a:srgbClr val="FFFF00"/>
                </a:solidFill>
              </a:rPr>
              <a:t>REALTIME</a:t>
            </a:r>
            <a:r>
              <a:rPr lang="en-US" sz="2800"/>
              <a:t> &amp; </a:t>
            </a:r>
            <a:r>
              <a:rPr lang="en-US" sz="2800" b="1">
                <a:solidFill>
                  <a:srgbClr val="FFFF00"/>
                </a:solidFill>
              </a:rPr>
              <a:t>NON-REALTIME</a:t>
            </a:r>
            <a:r>
              <a:rPr lang="en-US" sz="2800"/>
              <a:t> ĐĂNG NHẬP BẰNG </a:t>
            </a:r>
            <a:r>
              <a:rPr lang="en-US" sz="2800" b="1">
                <a:solidFill>
                  <a:srgbClr val="FFFF00"/>
                </a:solidFill>
              </a:rPr>
              <a:t>SỐ ĐIỆN THOẠI </a:t>
            </a:r>
            <a:r>
              <a:rPr lang="en-US" sz="2800"/>
              <a:t>CHECK MÃ </a:t>
            </a:r>
            <a:r>
              <a:rPr lang="en-US" sz="2800" b="1">
                <a:solidFill>
                  <a:srgbClr val="FFFF00"/>
                </a:solidFill>
              </a:rPr>
              <a:t>OTP</a:t>
            </a:r>
            <a:r>
              <a:rPr lang="en-US" sz="28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5D7E6-DC0A-4EA8-AD58-743C29B64D23}"/>
              </a:ext>
            </a:extLst>
          </p:cNvPr>
          <p:cNvSpPr txBox="1"/>
          <p:nvPr/>
        </p:nvSpPr>
        <p:spPr>
          <a:xfrm>
            <a:off x="5891538" y="3925019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Cơ sở dữ liệu độc lập đảm bảo bảo mật an toàn dữ liệu</a:t>
            </a:r>
          </a:p>
        </p:txBody>
      </p:sp>
    </p:spTree>
    <p:extLst>
      <p:ext uri="{BB962C8B-B14F-4D97-AF65-F5344CB8AC3E}">
        <p14:creationId xmlns:p14="http://schemas.microsoft.com/office/powerpoint/2010/main" val="309636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43B3508-B312-4551-BEA5-76C85837F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870817"/>
              </p:ext>
            </p:extLst>
          </p:nvPr>
        </p:nvGraphicFramePr>
        <p:xfrm>
          <a:off x="1216326" y="2513959"/>
          <a:ext cx="9012688" cy="31942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579961">
                  <a:extLst>
                    <a:ext uri="{9D8B030D-6E8A-4147-A177-3AD203B41FA5}">
                      <a16:colId xmlns:a16="http://schemas.microsoft.com/office/drawing/2014/main" val="2855269748"/>
                    </a:ext>
                  </a:extLst>
                </a:gridCol>
                <a:gridCol w="2760453">
                  <a:extLst>
                    <a:ext uri="{9D8B030D-6E8A-4147-A177-3AD203B41FA5}">
                      <a16:colId xmlns:a16="http://schemas.microsoft.com/office/drawing/2014/main" val="3110020759"/>
                    </a:ext>
                  </a:extLst>
                </a:gridCol>
                <a:gridCol w="2672274">
                  <a:extLst>
                    <a:ext uri="{9D8B030D-6E8A-4147-A177-3AD203B41FA5}">
                      <a16:colId xmlns:a16="http://schemas.microsoft.com/office/drawing/2014/main" val="265230325"/>
                    </a:ext>
                  </a:extLst>
                </a:gridCol>
              </a:tblGrid>
              <a:tr h="532378">
                <a:tc>
                  <a:txBody>
                    <a:bodyPr/>
                    <a:lstStyle/>
                    <a:p>
                      <a:r>
                        <a:rPr lang="en-US" sz="1600" b="0"/>
                        <a:t>Giới hạn thời gian làm bài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87486635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FFFF00"/>
                          </a:solidFill>
                        </a:rPr>
                        <a:t>Xáo trộn </a:t>
                      </a:r>
                      <a:r>
                        <a:rPr lang="en-US" sz="1600" b="0"/>
                        <a:t>thứ tự câu hỏi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617513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Ghi điểm dựa trên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tốc độ </a:t>
                      </a:r>
                      <a:r>
                        <a:rPr lang="en-US" sz="1600"/>
                        <a:t>làm bài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951891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Hiển thị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vị thứ </a:t>
                      </a:r>
                      <a:r>
                        <a:rPr lang="en-US" sz="1600"/>
                        <a:t>điểm số sau mỗi câu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348154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Cần Trainer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bấm</a:t>
                      </a:r>
                      <a:r>
                        <a:rPr lang="en-US" sz="1600"/>
                        <a:t> qua câu tiếp theo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881152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Hoàn cảnh sử dụng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C000"/>
                          </a:solidFill>
                        </a:rPr>
                        <a:t>Làm bài tại lớp có trainer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Làm bài ở nhà/store/…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24312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4F99325-01C9-42D2-8401-77CE5AB36C0C}"/>
              </a:ext>
            </a:extLst>
          </p:cNvPr>
          <p:cNvSpPr/>
          <p:nvPr/>
        </p:nvSpPr>
        <p:spPr>
          <a:xfrm>
            <a:off x="1216327" y="305646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90030-C204-4BC5-8238-2EBEDC2B58A5}"/>
              </a:ext>
            </a:extLst>
          </p:cNvPr>
          <p:cNvSpPr/>
          <p:nvPr/>
        </p:nvSpPr>
        <p:spPr>
          <a:xfrm>
            <a:off x="1216326" y="412834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3073C-960C-42C0-81B3-96D2A43F38FA}"/>
              </a:ext>
            </a:extLst>
          </p:cNvPr>
          <p:cNvSpPr/>
          <p:nvPr/>
        </p:nvSpPr>
        <p:spPr>
          <a:xfrm>
            <a:off x="1216326" y="520022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F96B3-C06A-427B-B7CF-1219C11D890D}"/>
              </a:ext>
            </a:extLst>
          </p:cNvPr>
          <p:cNvSpPr/>
          <p:nvPr/>
        </p:nvSpPr>
        <p:spPr>
          <a:xfrm>
            <a:off x="1216326" y="3592407"/>
            <a:ext cx="9012688" cy="508000"/>
          </a:xfrm>
          <a:prstGeom prst="rect">
            <a:avLst/>
          </a:prstGeom>
          <a:solidFill>
            <a:srgbClr val="155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1BB21-EA10-4BD8-B4D1-28B6EC6C307F}"/>
              </a:ext>
            </a:extLst>
          </p:cNvPr>
          <p:cNvSpPr/>
          <p:nvPr/>
        </p:nvSpPr>
        <p:spPr>
          <a:xfrm>
            <a:off x="1216326" y="4670855"/>
            <a:ext cx="9012688" cy="508000"/>
          </a:xfrm>
          <a:prstGeom prst="rect">
            <a:avLst/>
          </a:prstGeom>
          <a:solidFill>
            <a:srgbClr val="155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4. BÀI TEST REALTIME &amp; NON-REALTIME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EDA766-A74F-4F5E-BF2D-18880D80B502}"/>
              </a:ext>
            </a:extLst>
          </p:cNvPr>
          <p:cNvSpPr/>
          <p:nvPr/>
        </p:nvSpPr>
        <p:spPr>
          <a:xfrm>
            <a:off x="4789097" y="1832474"/>
            <a:ext cx="2751827" cy="58659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93B191-5D05-4335-AFE9-407A23A7DAFD}"/>
              </a:ext>
            </a:extLst>
          </p:cNvPr>
          <p:cNvSpPr/>
          <p:nvPr/>
        </p:nvSpPr>
        <p:spPr>
          <a:xfrm>
            <a:off x="7540924" y="1832474"/>
            <a:ext cx="2751827" cy="586596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Non-Realtime</a:t>
            </a:r>
          </a:p>
        </p:txBody>
      </p:sp>
    </p:spTree>
    <p:extLst>
      <p:ext uri="{BB962C8B-B14F-4D97-AF65-F5344CB8AC3E}">
        <p14:creationId xmlns:p14="http://schemas.microsoft.com/office/powerpoint/2010/main" val="404879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5. CÁC TÍNH NĂNG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255" y="1278131"/>
            <a:ext cx="114345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Xuất mã </a:t>
            </a:r>
            <a:r>
              <a:rPr lang="en-US" sz="2000" b="1">
                <a:solidFill>
                  <a:srgbClr val="FFFF00"/>
                </a:solidFill>
              </a:rPr>
              <a:t>QR code </a:t>
            </a:r>
            <a:r>
              <a:rPr lang="en-US" sz="2000"/>
              <a:t>của lớp học </a:t>
            </a:r>
            <a:r>
              <a:rPr lang="en-US"/>
              <a:t>(Học viên </a:t>
            </a:r>
            <a:r>
              <a:rPr lang="en-US" u="sng">
                <a:solidFill>
                  <a:srgbClr val="FFFF00"/>
                </a:solidFill>
              </a:rPr>
              <a:t>dùng điện thoại quét </a:t>
            </a:r>
            <a:r>
              <a:rPr lang="en-US"/>
              <a:t>mã QR code để xem thông tin lớp học)</a:t>
            </a:r>
            <a:endParaRPr lang="en-US" sz="200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Ký tên </a:t>
            </a:r>
            <a:r>
              <a:rPr lang="en-US" sz="2000"/>
              <a:t>điểm danh lớp học ngay </a:t>
            </a:r>
            <a:r>
              <a:rPr lang="en-US" sz="2000" b="1">
                <a:solidFill>
                  <a:srgbClr val="FFFF00"/>
                </a:solidFill>
              </a:rPr>
              <a:t>trên</a:t>
            </a:r>
            <a:r>
              <a:rPr lang="en-US" sz="2000"/>
              <a:t> </a:t>
            </a:r>
            <a:r>
              <a:rPr lang="en-US" sz="2000" b="1">
                <a:solidFill>
                  <a:srgbClr val="FFFF00"/>
                </a:solidFill>
              </a:rPr>
              <a:t>điện thoại</a:t>
            </a:r>
            <a:r>
              <a:rPr lang="en-US" sz="2000"/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Tải</a:t>
            </a:r>
            <a:r>
              <a:rPr lang="en-US" sz="2000"/>
              <a:t> tài liệu tham khảo của lớp học về điện thoại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Làm bài </a:t>
            </a:r>
            <a:r>
              <a:rPr lang="en-US" sz="2000" b="1">
                <a:solidFill>
                  <a:srgbClr val="FFFF00"/>
                </a:solidFill>
              </a:rPr>
              <a:t>test</a:t>
            </a:r>
            <a:r>
              <a:rPr lang="en-US" sz="2000"/>
              <a:t> thế hệ </a:t>
            </a:r>
            <a:r>
              <a:rPr lang="en-US" sz="2000" b="1">
                <a:solidFill>
                  <a:srgbClr val="FFFF00"/>
                </a:solidFill>
              </a:rPr>
              <a:t>mới</a:t>
            </a:r>
            <a:r>
              <a:rPr lang="en-US" sz="2000"/>
              <a:t>: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Tính </a:t>
            </a:r>
            <a:r>
              <a:rPr lang="en-US" sz="2000" b="1">
                <a:solidFill>
                  <a:srgbClr val="FFFF00"/>
                </a:solidFill>
              </a:rPr>
              <a:t>điểm</a:t>
            </a:r>
            <a:r>
              <a:rPr lang="en-US" sz="2000"/>
              <a:t> theo câu </a:t>
            </a:r>
            <a:r>
              <a:rPr lang="en-US" sz="2000" b="1">
                <a:solidFill>
                  <a:srgbClr val="FFFF00"/>
                </a:solidFill>
              </a:rPr>
              <a:t>đúng</a:t>
            </a:r>
            <a:r>
              <a:rPr lang="en-US" sz="2000"/>
              <a:t> và </a:t>
            </a:r>
            <a:r>
              <a:rPr lang="en-US" sz="2000" b="1">
                <a:solidFill>
                  <a:srgbClr val="FFFF00"/>
                </a:solidFill>
              </a:rPr>
              <a:t>nhanh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Xáo trộn </a:t>
            </a:r>
            <a:r>
              <a:rPr lang="en-US" sz="2000"/>
              <a:t>thứ tự câu hỏi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Tổng kết </a:t>
            </a:r>
            <a:r>
              <a:rPr lang="en-US" sz="2000"/>
              <a:t>điểm và </a:t>
            </a:r>
            <a:r>
              <a:rPr lang="en-US" sz="2000" b="1">
                <a:solidFill>
                  <a:srgbClr val="FFFF00"/>
                </a:solidFill>
              </a:rPr>
              <a:t>vị thứ </a:t>
            </a:r>
            <a:r>
              <a:rPr lang="en-US" sz="2000"/>
              <a:t>thi đua </a:t>
            </a:r>
            <a:r>
              <a:rPr lang="en-US" sz="2000" b="1">
                <a:solidFill>
                  <a:srgbClr val="FFFF00"/>
                </a:solidFill>
              </a:rPr>
              <a:t>ngay sau </a:t>
            </a:r>
            <a:r>
              <a:rPr lang="en-US" sz="2000"/>
              <a:t>mỗi </a:t>
            </a:r>
            <a:r>
              <a:rPr lang="en-US" sz="2000" b="1">
                <a:solidFill>
                  <a:srgbClr val="FFFF00"/>
                </a:solidFill>
              </a:rPr>
              <a:t>câu hỏi</a:t>
            </a:r>
          </a:p>
        </p:txBody>
      </p:sp>
    </p:spTree>
    <p:extLst>
      <p:ext uri="{BB962C8B-B14F-4D97-AF65-F5344CB8AC3E}">
        <p14:creationId xmlns:p14="http://schemas.microsoft.com/office/powerpoint/2010/main" val="157729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6. QUY TRÌNH NHÂN VIÊN HỌC VÀ LÀM BÀI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90" y="1440665"/>
            <a:ext cx="12192000" cy="4136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7489" y="5455109"/>
            <a:ext cx="18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*B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r>
              <a:rPr lang="en-US" sz="1200">
                <a:solidFill>
                  <a:srgbClr val="FF0000"/>
                </a:solidFill>
              </a:rPr>
              <a:t> 3: Có thể bỏ qua nếu đã đ</a:t>
            </a:r>
            <a:r>
              <a:rPr lang="vi-VN" sz="1200">
                <a:solidFill>
                  <a:srgbClr val="FF0000"/>
                </a:solidFill>
              </a:rPr>
              <a:t>ược</a:t>
            </a:r>
            <a:r>
              <a:rPr lang="en-US" sz="1200">
                <a:solidFill>
                  <a:srgbClr val="FF0000"/>
                </a:solidFill>
              </a:rPr>
              <a:t> tạo tài khoản từ tr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6929" y="5455109"/>
            <a:ext cx="18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*B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r>
              <a:rPr lang="en-US" sz="1200">
                <a:solidFill>
                  <a:srgbClr val="FF0000"/>
                </a:solidFill>
              </a:rPr>
              <a:t> 6: Tính điểm theo câu trả lời đúng và thời gian nhanh nhất.</a:t>
            </a:r>
          </a:p>
        </p:txBody>
      </p:sp>
    </p:spTree>
    <p:extLst>
      <p:ext uri="{BB962C8B-B14F-4D97-AF65-F5344CB8AC3E}">
        <p14:creationId xmlns:p14="http://schemas.microsoft.com/office/powerpoint/2010/main" val="57991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34518" y="-201143"/>
            <a:ext cx="11703481" cy="1325563"/>
          </a:xfrm>
        </p:spPr>
        <p:txBody>
          <a:bodyPr>
            <a:normAutofit/>
          </a:bodyPr>
          <a:lstStyle/>
          <a:p>
            <a:r>
              <a:rPr lang="en-US" sz="4400"/>
              <a:t>7. TRANG TRA CỨU KẾT QUẢ THI ĐUA TỪNG STORE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07923-500A-47A3-B667-FC78908B1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" y="1224673"/>
            <a:ext cx="10671048" cy="55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2453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Custom 1">
      <a:majorFont>
        <a:latin typeface="Calibri Light"/>
        <a:ea typeface=""/>
        <a:cs typeface=""/>
      </a:majorFont>
      <a:minorFont>
        <a:latin typeface="Roboto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852</TotalTime>
  <Words>488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Roboto</vt:lpstr>
      <vt:lpstr>Symbol</vt:lpstr>
      <vt:lpstr>Depth</vt:lpstr>
      <vt:lpstr>PowerPoint Presentation</vt:lpstr>
      <vt:lpstr>1. TẠI SAO?</vt:lpstr>
      <vt:lpstr>2. HƯỚNG XỬ LÝ?</vt:lpstr>
      <vt:lpstr>3. GIẢI PHÁP</vt:lpstr>
      <vt:lpstr>4. BÀI TEST REALTIME &amp; NON-REALTIME</vt:lpstr>
      <vt:lpstr>5. CÁC TÍNH NĂNG CHÍNH</vt:lpstr>
      <vt:lpstr>6. QUY TRÌNH NHÂN VIÊN HỌC VÀ LÀM BÀI</vt:lpstr>
      <vt:lpstr>7. TRANG TRA CỨU KẾT QUẢ THI ĐUA TỪNG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SAVINA-S</dc:creator>
  <cp:lastModifiedBy>Minh Tran</cp:lastModifiedBy>
  <cp:revision>76</cp:revision>
  <dcterms:created xsi:type="dcterms:W3CDTF">2021-03-15T04:50:39Z</dcterms:created>
  <dcterms:modified xsi:type="dcterms:W3CDTF">2021-03-22T08:29:42Z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D:\01. Training\05. Report\05. Checkin WebApp\Proposal - dung dung diem danh.pptx</vt:lpwstr>
  </property>
</Properties>
</file>